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MinKyu Cho</a:t>
            </a:r>
          </a:p>
          <a:p/>
          <a:p>
            <a:r>
              <a:t>안녕하세요. 저희 프로젝트는 가위바위보를 단순히 맞히는 데모가 아니라, 사람 손 동작의 초반 움직임을 보고 로봇 손이 시간 안에 counterattack 할 수 있는지를 검증하는 프로젝트입니다. 오늘 발표에서는 real skeleton data를 어떻게 늘렸고, 그 모델이 live prompt window에서 어떻게 동작했는지를 설명하겠습니다.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MinKyu Cho</a:t>
            </a:r>
          </a:p>
          <a:p/>
          <a:p>
            <a:r>
              <a:t>핵심 문제는 마지막 자세를 인식하는 것만으로는 늦다는 점입니다. 모델이 맞게 예측하더라도 로봇 손이 제한 시간 안에 움직이지 못하면 embodied counterattack이라고 보기 어렵습니다. 그래서 저희는 예측 정확도뿐 아니라 남은 시간, delay, 필요한 joint motion까지 같이 봤습니다.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SeungHwan Kim</a:t>
            </a:r>
          </a:p>
          <a:p/>
          <a:p>
            <a:r>
              <a:t>전체 흐름은 적은 수의 실제 hand video에서 시작합니다. MediaPipe로 skeleton을 추출하고, canonical feature로 변환한 뒤, real-guided augmentation을 통해 synthetic skeleton sequence를 늘립니다. 그 다음 SCHUNK/Isaac-style pose progress에 맞춰 alignment하고, 최종적으로 TCN predictor와 robot counterattack policy로 연결합니다.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SeungHwan Kim</a:t>
            </a:r>
          </a:p>
          <a:p/>
          <a:p>
            <a:r>
              <a:t>여기서 중요한 것은 데이터가 많지 않았다는 점입니다. 실제 촬영은 20개 clip, 720 frame 수준이었고, 대신 각 frame에서 MediaPipe hand landmark가 안정적으로 잡혔는지를 먼저 검증했습니다. 이 작은 seed가 이후 augmentation의 기준이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SeungHwan Kim</a:t>
            </a:r>
          </a:p>
          <a:p/>
          <a:p>
            <a:r>
              <a:t>MediaPipe에서 얻은 21개 landmark를 그대로 쓰는 것이 아니라 wrist 기준 좌표계로 정규화했습니다. 또한 velocity, finger curl, fingertip speed 같은 temporal feature를 붙여서 한 frame당 142차원 feature를 만들었습니다. 이 구조 덕분에 카메라 위치나 크기 변화에 조금 더 강한 입력을 만들 수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SeungHwan Kim</a:t>
            </a:r>
          </a:p>
          <a:p/>
          <a:p>
            <a:r>
              <a:t>이 단계가 연구의 핵심입니다. 저희는 임의로 손 그림을 생성한 것이 아니라 실제 skeleton trajectory를 seed로 두고 temporal scaling, finger-specific scaling, noise를 적용했습니다. 그래서 적은 실제 데이터에서 출발하지만 motion pattern은 실제 영상에 기반한 synthetic dataset을 만들 수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SeungHwan Kim</a:t>
            </a:r>
          </a:p>
          <a:p/>
          <a:p>
            <a:r>
              <a:t>증강된 skeleton을 로봇 손과 연결하기 위해 progress schedule도 맞췄습니다. 이전 8-frame grid에서는 progress error가 컸지만 32-frame real-guided schedule로 줄였습니다. 다만 이 단계는 이미지 기반 Isaac training을 완료했다는 뜻은 아니고, skeleton dataset이 향후 render-conditioned training으로 이어질 수 있게 준비된 상태라는 의미입니다.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MinKyu Cho</a:t>
            </a:r>
          </a:p>
          <a:p/>
          <a:p>
            <a:r>
              <a:t>최종 live/demo 모델은 v4 fallback policy로 고정했습니다. v7e는 original20에서 17/20으로 strict gate를 통과하지 못했기 때문에 report diagnostic으로만 남겼고, v7f retraining은 시작하지 않았습니다. 발표에서는 이 경계를 명확히 말하는 것이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MinKyu Cho</a:t>
            </a:r>
          </a:p>
          <a:p/>
          <a:p>
            <a:r>
              <a:t>counterattack policy는 간단하지만 timing gate와 함께 쓰일 때 의미가 있습니다. 사람의 예측이 rock이면 robot은 paper, paper면 scissors, scissors면 rock을 냅니다. 대기 상태에서는 항상 robot rock으로 시작하고, response window에서 확정된 decision이 있을 때만 움직입니다.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MinKyu Cho</a:t>
            </a:r>
          </a:p>
          <a:p/>
          <a:p>
            <a:r>
              <a:t>여기서는 모델 forward time만 말하는 것이 아니라 local desktop loop 전체를 말합니다. 카메라 입력, MediaPipe, feature construction, PyTorch inference, OpenCV output이 모두 포함됩니다. 그래서 이 숫자는 hardware-independent latency가 아니라 이 PC에서 검증한 end-to-end timing입니다.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MinKyu Cho</a:t>
            </a:r>
          </a:p>
          <a:p/>
          <a:p>
            <a:r>
              <a:t>이 슬라이드에서는 최종 demo video를 같이 보여주면 좋습니다. 선택된 take는 prompt scissors response window에서 제가 rock을 냈고, 모델이 rock으로 확정한 뒤 robot paper로 counterattack 한 사례입니다. 이 take는 feasibility check까지 통과했습니다.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MinKyu Cho</a:t>
            </a:r>
          </a:p>
          <a:p/>
          <a:p>
            <a:r>
              <a:t>결과는 성공 사례만 말하지 않고 전체 evidence를 같이 보여주는 것이 좋습니다. v4는 최종 live/demo 모델이고, v7e는 17/20으로 diagnostic branch입니다. 세 live take 중 최종 선택된 것은 actuator-feasible win이지만, paper와 scissors 실패도 timing과 response-window 문제가 무엇인지 보여주는 진단 자료입니다.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MinKyu Cho</a:t>
            </a:r>
          </a:p>
          <a:p/>
          <a:p>
            <a:r>
              <a:t>한계를 명확히 말하겠습니다. 첫째, 최종 predictor는 skeleton-first입니다. 둘째, timing은 제 local desktop에서의 end-to-end timing입니다. 셋째, live take는 하나만 full gate를 통과했습니다. 그래서 다음 단계는 더 많은 subject와 hardware-normalized latency benchmark가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MinKyu Cho</a:t>
            </a:r>
          </a:p>
          <a:p/>
          <a:p>
            <a:r>
              <a:t>마무리하겠습니다. 이 프로젝트의 핵심은 적은 실제 skeleton seed에서 출발해 real-guided synthetic dataset을 만들고, 이것을 robot-hand timing constraint와 연결한 점입니다. 앞으로는 latency를 더 세밀하게 분리해서 측정하고, image-conditioned Isaac training과 실제 로봇 손 deployment로 확장할 수 있습니다.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40080" y="594360"/>
            <a:ext cx="5029200" cy="2148840"/>
          </a:xfrm>
          <a:prstGeom prst="rect">
            <a:avLst/>
          </a:prstGeom>
          <a:noFill/>
        </p:spPr>
        <p:txBody>
          <a:bodyPr wrap="none" lIns="18288" rIns="18288" tIns="18288" bIns="18288" anchor="t">
            <a:spAutoFit/>
          </a:bodyPr>
          <a:lstStyle/>
          <a:p>
            <a:pPr algn="l"/>
            <a:r>
              <a:rPr sz="3400" b="1">
                <a:solidFill>
                  <a:srgbClr val="F8FAFC"/>
                </a:solidFill>
                <a:latin typeface="Aptos Display"/>
              </a:rPr>
              <a:t>Real-Guided Skeleton
Augmentation for
Actuator-Constrained
RPS Counterattack</a:t>
            </a:r>
          </a:p>
        </p:txBody>
      </p:sp>
      <p:sp>
        <p:nvSpPr>
          <p:cNvPr id="3" name="TextBox 2"/>
          <p:cNvSpPr txBox="1"/>
          <p:nvPr/>
        </p:nvSpPr>
        <p:spPr>
          <a:xfrm>
            <a:off x="658368" y="2944368"/>
            <a:ext cx="4892040" cy="566928"/>
          </a:xfrm>
          <a:prstGeom prst="rect">
            <a:avLst/>
          </a:prstGeom>
          <a:noFill/>
        </p:spPr>
        <p:txBody>
          <a:bodyPr wrap="none" lIns="18288" rIns="18288" tIns="18288" bIns="18288" anchor="t">
            <a:spAutoFit/>
          </a:bodyPr>
          <a:lstStyle/>
          <a:p>
            <a:pPr algn="l"/>
            <a:r>
              <a:rPr sz="1400" b="0">
                <a:solidFill>
                  <a:srgbClr val="CBD5E1"/>
                </a:solidFill>
                <a:latin typeface="Aptos Display"/>
              </a:rPr>
              <a:t>Embodied Artificial Intelligence Final Project
MinKyu Cho and SeungHwan Kim · Hanyang University</a:t>
            </a:r>
          </a:p>
        </p:txBody>
      </p:sp>
      <p:sp>
        <p:nvSpPr>
          <p:cNvPr id="4" name="Rounded Rectangle 3"/>
          <p:cNvSpPr/>
          <p:nvPr/>
        </p:nvSpPr>
        <p:spPr>
          <a:xfrm>
            <a:off x="676656" y="3749039"/>
            <a:ext cx="2057400" cy="329184"/>
          </a:xfrm>
          <a:prstGeom prst="roundRect">
            <a:avLst/>
          </a:prstGeom>
          <a:solidFill>
            <a:srgbClr val="DBEAFE"/>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73152" rIns="73152" tIns="27432" bIns="27432"/>
          <a:lstStyle/>
          <a:p>
            <a:pPr algn="ctr"/>
            <a:r>
              <a:rPr sz="1000" b="1">
                <a:solidFill>
                  <a:srgbClr val="1D4ED8"/>
                </a:solidFill>
                <a:latin typeface="Aptos"/>
              </a:rPr>
              <a:t>Final report + presentation</a:t>
            </a:r>
          </a:p>
        </p:txBody>
      </p:sp>
      <p:sp>
        <p:nvSpPr>
          <p:cNvPr id="5" name="Rounded Rectangle 4"/>
          <p:cNvSpPr/>
          <p:nvPr/>
        </p:nvSpPr>
        <p:spPr>
          <a:xfrm>
            <a:off x="2871216" y="3749039"/>
            <a:ext cx="1097280" cy="329184"/>
          </a:xfrm>
          <a:prstGeom prst="roundRect">
            <a:avLst/>
          </a:prstGeom>
          <a:solidFill>
            <a:srgbClr val="DCFCE7"/>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73152" rIns="73152" tIns="27432" bIns="27432"/>
          <a:lstStyle/>
          <a:p>
            <a:pPr algn="ctr"/>
            <a:r>
              <a:rPr sz="1000" b="1">
                <a:solidFill>
                  <a:srgbClr val="166534"/>
                </a:solidFill>
                <a:latin typeface="Aptos"/>
              </a:rPr>
              <a:t>15-20 min</a:t>
            </a:r>
          </a:p>
        </p:txBody>
      </p:sp>
      <p:sp>
        <p:nvSpPr>
          <p:cNvPr id="6" name="Rounded Rectangle 5"/>
          <p:cNvSpPr/>
          <p:nvPr/>
        </p:nvSpPr>
        <p:spPr>
          <a:xfrm>
            <a:off x="5897880" y="512064"/>
            <a:ext cx="5623560" cy="53492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6007608" y="1611915"/>
            <a:ext cx="5404104" cy="3039808"/>
          </a:xfrm>
          <a:prstGeom prst="rect">
            <a:avLst/>
          </a:prstGeom>
        </p:spPr>
      </p:pic>
      <p:sp>
        <p:nvSpPr>
          <p:cNvPr id="8" name="TextBox 7"/>
          <p:cNvSpPr txBox="1"/>
          <p:nvPr/>
        </p:nvSpPr>
        <p:spPr>
          <a:xfrm>
            <a:off x="6044184" y="5632704"/>
            <a:ext cx="5330952" cy="164592"/>
          </a:xfrm>
          <a:prstGeom prst="rect">
            <a:avLst/>
          </a:prstGeom>
          <a:noFill/>
        </p:spPr>
        <p:txBody>
          <a:bodyPr wrap="none" lIns="18288" rIns="18288" tIns="18288" bIns="18288" anchor="t">
            <a:spAutoFit/>
          </a:bodyPr>
          <a:lstStyle/>
          <a:p>
            <a:pPr algn="ctr"/>
            <a:r>
              <a:rPr sz="800" b="0">
                <a:solidFill>
                  <a:srgbClr val="64748B"/>
                </a:solidFill>
                <a:latin typeface="Aptos Display"/>
              </a:rPr>
              <a:t>Final live prompt-window counterattack candidate</a:t>
            </a:r>
          </a:p>
        </p:txBody>
      </p:sp>
      <p:sp>
        <p:nvSpPr>
          <p:cNvPr id="9" name="TextBox 8"/>
          <p:cNvSpPr txBox="1"/>
          <p:nvPr/>
        </p:nvSpPr>
        <p:spPr>
          <a:xfrm>
            <a:off x="566928" y="6473952"/>
            <a:ext cx="2743200" cy="201168"/>
          </a:xfrm>
          <a:prstGeom prst="rect">
            <a:avLst/>
          </a:prstGeom>
          <a:noFill/>
        </p:spPr>
        <p:txBody>
          <a:bodyPr wrap="none" lIns="18288" rIns="18288" tIns="18288" bIns="18288" anchor="t">
            <a:spAutoFit/>
          </a:bodyPr>
          <a:lstStyle/>
          <a:p>
            <a:pPr algn="l"/>
            <a:r>
              <a:rPr sz="900" b="0">
                <a:solidFill>
                  <a:srgbClr val="64748B"/>
                </a:solidFill>
                <a:latin typeface="Aptos Display"/>
              </a:rPr>
              <a:t>Embodied AI Final Project</a:t>
            </a:r>
          </a:p>
        </p:txBody>
      </p:sp>
      <p:sp>
        <p:nvSpPr>
          <p:cNvPr id="10" name="TextBox 9"/>
          <p:cNvSpPr txBox="1"/>
          <p:nvPr/>
        </p:nvSpPr>
        <p:spPr>
          <a:xfrm>
            <a:off x="11430000" y="6473952"/>
            <a:ext cx="384048" cy="201168"/>
          </a:xfrm>
          <a:prstGeom prst="rect">
            <a:avLst/>
          </a:prstGeom>
          <a:noFill/>
        </p:spPr>
        <p:txBody>
          <a:bodyPr wrap="none" lIns="18288" rIns="18288" tIns="18288" bIns="18288" anchor="t">
            <a:spAutoFit/>
          </a:bodyPr>
          <a:lstStyle/>
          <a:p>
            <a:pPr algn="r"/>
            <a:r>
              <a:rPr sz="900" b="0">
                <a:solidFill>
                  <a:srgbClr val="64748B"/>
                </a:solidFill>
                <a:latin typeface="Aptos Display"/>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47472"/>
            <a:ext cx="7772400" cy="530352"/>
          </a:xfrm>
          <a:prstGeom prst="rect">
            <a:avLst/>
          </a:prstGeom>
          <a:noFill/>
        </p:spPr>
        <p:txBody>
          <a:bodyPr wrap="none" lIns="18288" rIns="18288" tIns="18288" bIns="18288" anchor="t">
            <a:spAutoFit/>
          </a:bodyPr>
          <a:lstStyle/>
          <a:p>
            <a:pPr algn="l"/>
            <a:r>
              <a:rPr sz="3000" b="1">
                <a:solidFill>
                  <a:srgbClr val="0F172A"/>
                </a:solidFill>
                <a:latin typeface="Aptos Display"/>
              </a:rPr>
              <a:t>Why final-pose recognition is too late</a:t>
            </a:r>
          </a:p>
        </p:txBody>
      </p:sp>
      <p:sp>
        <p:nvSpPr>
          <p:cNvPr id="3" name="TextBox 2"/>
          <p:cNvSpPr txBox="1"/>
          <p:nvPr/>
        </p:nvSpPr>
        <p:spPr>
          <a:xfrm>
            <a:off x="585216" y="877824"/>
            <a:ext cx="7955279" cy="310896"/>
          </a:xfrm>
          <a:prstGeom prst="rect">
            <a:avLst/>
          </a:prstGeom>
          <a:noFill/>
        </p:spPr>
        <p:txBody>
          <a:bodyPr wrap="none" lIns="18288" rIns="18288" tIns="18288" bIns="18288" anchor="t">
            <a:spAutoFit/>
          </a:bodyPr>
          <a:lstStyle/>
          <a:p>
            <a:pPr algn="l"/>
            <a:r>
              <a:rPr sz="1300" b="0">
                <a:solidFill>
                  <a:srgbClr val="64748B"/>
                </a:solidFill>
                <a:latin typeface="Aptos Display"/>
              </a:rPr>
              <a:t>Embodied response requires early intention prediction plus actuator feasibility.</a:t>
            </a:r>
          </a:p>
        </p:txBody>
      </p:sp>
      <p:sp>
        <p:nvSpPr>
          <p:cNvPr id="4" name="Rounded Rectangle 3"/>
          <p:cNvSpPr/>
          <p:nvPr/>
        </p:nvSpPr>
        <p:spPr>
          <a:xfrm>
            <a:off x="9619488" y="384048"/>
            <a:ext cx="2011680" cy="310896"/>
          </a:xfrm>
          <a:prstGeom prst="roundRect">
            <a:avLst/>
          </a:prstGeom>
          <a:solidFill>
            <a:srgbClr val="E0F2FE"/>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73152" rIns="73152" tIns="27432" bIns="27432"/>
          <a:lstStyle/>
          <a:p>
            <a:pPr algn="ctr"/>
            <a:r>
              <a:rPr sz="1000" b="1">
                <a:solidFill>
                  <a:srgbClr val="075985"/>
                </a:solidFill>
                <a:latin typeface="Aptos"/>
              </a:rPr>
              <a:t>MinKyu</a:t>
            </a:r>
          </a:p>
        </p:txBody>
      </p:sp>
      <p:sp>
        <p:nvSpPr>
          <p:cNvPr id="5" name="Rounded Rectangle 4"/>
          <p:cNvSpPr/>
          <p:nvPr/>
        </p:nvSpPr>
        <p:spPr>
          <a:xfrm>
            <a:off x="685800" y="1417320"/>
            <a:ext cx="2331720" cy="84124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2104" y="1536192"/>
            <a:ext cx="2039112" cy="310896"/>
          </a:xfrm>
          <a:prstGeom prst="rect">
            <a:avLst/>
          </a:prstGeom>
          <a:noFill/>
        </p:spPr>
        <p:txBody>
          <a:bodyPr wrap="none" lIns="18288" rIns="18288" tIns="18288" bIns="18288" anchor="t">
            <a:spAutoFit/>
          </a:bodyPr>
          <a:lstStyle/>
          <a:p>
            <a:pPr algn="l"/>
            <a:r>
              <a:rPr sz="2200" b="1">
                <a:solidFill>
                  <a:srgbClr val="2563EB"/>
                </a:solidFill>
                <a:latin typeface="Aptos Display"/>
              </a:rPr>
              <a:t>0.033 s</a:t>
            </a:r>
          </a:p>
        </p:txBody>
      </p:sp>
      <p:sp>
        <p:nvSpPr>
          <p:cNvPr id="7" name="TextBox 6"/>
          <p:cNvSpPr txBox="1"/>
          <p:nvPr/>
        </p:nvSpPr>
        <p:spPr>
          <a:xfrm>
            <a:off x="832104" y="1901952"/>
            <a:ext cx="2039112" cy="219456"/>
          </a:xfrm>
          <a:prstGeom prst="rect">
            <a:avLst/>
          </a:prstGeom>
          <a:noFill/>
        </p:spPr>
        <p:txBody>
          <a:bodyPr wrap="none" lIns="18288" rIns="18288" tIns="18288" bIns="18288" anchor="t">
            <a:spAutoFit/>
          </a:bodyPr>
          <a:lstStyle/>
          <a:p>
            <a:pPr algn="l"/>
            <a:r>
              <a:rPr sz="1000" b="0">
                <a:solidFill>
                  <a:srgbClr val="64748B"/>
                </a:solidFill>
                <a:latin typeface="Aptos Display"/>
              </a:rPr>
              <a:t>response-window decision latency</a:t>
            </a:r>
          </a:p>
        </p:txBody>
      </p:sp>
      <p:sp>
        <p:nvSpPr>
          <p:cNvPr id="8" name="Rounded Rectangle 7"/>
          <p:cNvSpPr/>
          <p:nvPr/>
        </p:nvSpPr>
        <p:spPr>
          <a:xfrm>
            <a:off x="3246120" y="1417320"/>
            <a:ext cx="2331720" cy="84124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92424" y="1536192"/>
            <a:ext cx="2039112" cy="310896"/>
          </a:xfrm>
          <a:prstGeom prst="rect">
            <a:avLst/>
          </a:prstGeom>
          <a:noFill/>
        </p:spPr>
        <p:txBody>
          <a:bodyPr wrap="none" lIns="18288" rIns="18288" tIns="18288" bIns="18288" anchor="t">
            <a:spAutoFit/>
          </a:bodyPr>
          <a:lstStyle/>
          <a:p>
            <a:pPr algn="l"/>
            <a:r>
              <a:rPr sz="2200" b="1">
                <a:solidFill>
                  <a:srgbClr val="15803D"/>
                </a:solidFill>
                <a:latin typeface="Aptos Display"/>
              </a:rPr>
              <a:t>0.467 s</a:t>
            </a:r>
          </a:p>
        </p:txBody>
      </p:sp>
      <p:sp>
        <p:nvSpPr>
          <p:cNvPr id="10" name="TextBox 9"/>
          <p:cNvSpPr txBox="1"/>
          <p:nvPr/>
        </p:nvSpPr>
        <p:spPr>
          <a:xfrm>
            <a:off x="3392424" y="1901952"/>
            <a:ext cx="2039112" cy="219456"/>
          </a:xfrm>
          <a:prstGeom prst="rect">
            <a:avLst/>
          </a:prstGeom>
          <a:noFill/>
        </p:spPr>
        <p:txBody>
          <a:bodyPr wrap="none" lIns="18288" rIns="18288" tIns="18288" bIns="18288" anchor="t">
            <a:spAutoFit/>
          </a:bodyPr>
          <a:lstStyle/>
          <a:p>
            <a:pPr algn="l"/>
            <a:r>
              <a:rPr sz="1000" b="0">
                <a:solidFill>
                  <a:srgbClr val="64748B"/>
                </a:solidFill>
                <a:latin typeface="Aptos Display"/>
              </a:rPr>
              <a:t>remaining actuator budget</a:t>
            </a:r>
          </a:p>
        </p:txBody>
      </p:sp>
      <p:sp>
        <p:nvSpPr>
          <p:cNvPr id="11" name="Rounded Rectangle 10"/>
          <p:cNvSpPr/>
          <p:nvPr/>
        </p:nvSpPr>
        <p:spPr>
          <a:xfrm>
            <a:off x="5806440" y="1417320"/>
            <a:ext cx="2331720" cy="84124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52744" y="1536192"/>
            <a:ext cx="2039112" cy="310896"/>
          </a:xfrm>
          <a:prstGeom prst="rect">
            <a:avLst/>
          </a:prstGeom>
          <a:noFill/>
        </p:spPr>
        <p:txBody>
          <a:bodyPr wrap="none" lIns="18288" rIns="18288" tIns="18288" bIns="18288" anchor="t">
            <a:spAutoFit/>
          </a:bodyPr>
          <a:lstStyle/>
          <a:p>
            <a:pPr algn="l"/>
            <a:r>
              <a:rPr sz="2200" b="1">
                <a:solidFill>
                  <a:srgbClr val="B45309"/>
                </a:solidFill>
                <a:latin typeface="Aptos Display"/>
              </a:rPr>
              <a:t>0.413 s</a:t>
            </a:r>
          </a:p>
        </p:txBody>
      </p:sp>
      <p:sp>
        <p:nvSpPr>
          <p:cNvPr id="13" name="TextBox 12"/>
          <p:cNvSpPr txBox="1"/>
          <p:nvPr/>
        </p:nvSpPr>
        <p:spPr>
          <a:xfrm>
            <a:off x="5952744" y="1901952"/>
            <a:ext cx="2039112" cy="219456"/>
          </a:xfrm>
          <a:prstGeom prst="rect">
            <a:avLst/>
          </a:prstGeom>
          <a:noFill/>
        </p:spPr>
        <p:txBody>
          <a:bodyPr wrap="none" lIns="18288" rIns="18288" tIns="18288" bIns="18288" anchor="t">
            <a:spAutoFit/>
          </a:bodyPr>
          <a:lstStyle/>
          <a:p>
            <a:pPr algn="l"/>
            <a:r>
              <a:rPr sz="1000" b="0">
                <a:solidFill>
                  <a:srgbClr val="64748B"/>
                </a:solidFill>
                <a:latin typeface="Aptos Display"/>
              </a:rPr>
              <a:t>required response time</a:t>
            </a:r>
          </a:p>
        </p:txBody>
      </p:sp>
      <p:sp>
        <p:nvSpPr>
          <p:cNvPr id="14" name="Rounded Rectangle 13"/>
          <p:cNvSpPr/>
          <p:nvPr/>
        </p:nvSpPr>
        <p:spPr>
          <a:xfrm>
            <a:off x="8366760" y="1417320"/>
            <a:ext cx="2331720" cy="84124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13064" y="1536192"/>
            <a:ext cx="2039112" cy="310896"/>
          </a:xfrm>
          <a:prstGeom prst="rect">
            <a:avLst/>
          </a:prstGeom>
          <a:noFill/>
        </p:spPr>
        <p:txBody>
          <a:bodyPr wrap="none" lIns="18288" rIns="18288" tIns="18288" bIns="18288" anchor="t">
            <a:spAutoFit/>
          </a:bodyPr>
          <a:lstStyle/>
          <a:p>
            <a:pPr algn="l"/>
            <a:r>
              <a:rPr sz="2200" b="1">
                <a:solidFill>
                  <a:srgbClr val="6D28D9"/>
                </a:solidFill>
                <a:latin typeface="Aptos Display"/>
              </a:rPr>
              <a:t>0.500 s</a:t>
            </a:r>
          </a:p>
        </p:txBody>
      </p:sp>
      <p:sp>
        <p:nvSpPr>
          <p:cNvPr id="16" name="TextBox 15"/>
          <p:cNvSpPr txBox="1"/>
          <p:nvPr/>
        </p:nvSpPr>
        <p:spPr>
          <a:xfrm>
            <a:off x="8513064" y="1901952"/>
            <a:ext cx="2039112" cy="219456"/>
          </a:xfrm>
          <a:prstGeom prst="rect">
            <a:avLst/>
          </a:prstGeom>
          <a:noFill/>
        </p:spPr>
        <p:txBody>
          <a:bodyPr wrap="none" lIns="18288" rIns="18288" tIns="18288" bIns="18288" anchor="t">
            <a:spAutoFit/>
          </a:bodyPr>
          <a:lstStyle/>
          <a:p>
            <a:pPr algn="l"/>
            <a:r>
              <a:rPr sz="1000" b="0">
                <a:solidFill>
                  <a:srgbClr val="64748B"/>
                </a:solidFill>
                <a:latin typeface="Aptos Display"/>
              </a:rPr>
              <a:t>hard deadline</a:t>
            </a:r>
          </a:p>
        </p:txBody>
      </p:sp>
      <p:sp>
        <p:nvSpPr>
          <p:cNvPr id="17" name="TextBox 16"/>
          <p:cNvSpPr txBox="1"/>
          <p:nvPr/>
        </p:nvSpPr>
        <p:spPr>
          <a:xfrm>
            <a:off x="1005840" y="2788920"/>
            <a:ext cx="10058400" cy="411480"/>
          </a:xfrm>
          <a:prstGeom prst="rect">
            <a:avLst/>
          </a:prstGeom>
          <a:noFill/>
        </p:spPr>
        <p:txBody>
          <a:bodyPr wrap="none" lIns="18288" rIns="18288" tIns="18288" bIns="18288" anchor="t">
            <a:spAutoFit/>
          </a:bodyPr>
          <a:lstStyle/>
          <a:p>
            <a:pPr algn="ctr"/>
            <a:r>
              <a:rPr sz="2500" b="1">
                <a:solidFill>
                  <a:srgbClr val="0F172A"/>
                </a:solidFill>
                <a:latin typeface="Aptos Display"/>
              </a:rPr>
              <a:t>The robot must commit before the human motion is fully complete.</a:t>
            </a:r>
          </a:p>
        </p:txBody>
      </p:sp>
      <p:sp>
        <p:nvSpPr>
          <p:cNvPr id="18" name="TextBox 17"/>
          <p:cNvSpPr txBox="1"/>
          <p:nvPr/>
        </p:nvSpPr>
        <p:spPr>
          <a:xfrm>
            <a:off x="1188720" y="3547872"/>
            <a:ext cx="9875520" cy="1234440"/>
          </a:xfrm>
          <a:prstGeom prst="rect">
            <a:avLst/>
          </a:prstGeom>
          <a:noFill/>
        </p:spPr>
        <p:txBody>
          <a:bodyPr wrap="none" lIns="36576" rIns="36576" tIns="18288" bIns="18288">
            <a:spAutoFit/>
          </a:bodyPr>
          <a:lstStyle/>
          <a:p>
            <a:pPr>
              <a:spcAft>
                <a:spcPts val="700"/>
              </a:spcAft>
              <a:defRPr sz="2000">
                <a:solidFill>
                  <a:srgbClr val="0F172A"/>
                </a:solidFill>
                <a:latin typeface="Aptos"/>
              </a:defRPr>
            </a:pPr>
            <a:r>
              <a:t>Sparse real videos make temporal learning difficult.</a:t>
            </a:r>
          </a:p>
          <a:p>
            <a:pPr>
              <a:spcAft>
                <a:spcPts val="700"/>
              </a:spcAft>
              <a:defRPr sz="2000">
                <a:solidFill>
                  <a:srgbClr val="0F172A"/>
                </a:solidFill>
                <a:latin typeface="Aptos"/>
              </a:defRPr>
            </a:pPr>
            <a:r>
              <a:t>The decision is only useful if the robot can still move.</a:t>
            </a:r>
          </a:p>
          <a:p>
            <a:pPr>
              <a:spcAft>
                <a:spcPts val="700"/>
              </a:spcAft>
              <a:defRPr sz="2000">
                <a:solidFill>
                  <a:srgbClr val="0F172A"/>
                </a:solidFill>
                <a:latin typeface="Aptos"/>
              </a:defRPr>
            </a:pPr>
            <a:r>
              <a:t>Therefore the system evaluates prediction, confidence, and actuator feasibility together.</a:t>
            </a:r>
          </a:p>
        </p:txBody>
      </p:sp>
      <p:sp>
        <p:nvSpPr>
          <p:cNvPr id="19" name="Rounded Rectangle 18"/>
          <p:cNvSpPr/>
          <p:nvPr/>
        </p:nvSpPr>
        <p:spPr>
          <a:xfrm>
            <a:off x="1828800" y="4892040"/>
            <a:ext cx="8503920" cy="1143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2"/>
          <a:stretch>
            <a:fillRect/>
          </a:stretch>
        </p:blipFill>
        <p:spPr>
          <a:xfrm>
            <a:off x="4733925" y="5001768"/>
            <a:ext cx="2693670" cy="923544"/>
          </a:xfrm>
          <a:prstGeom prst="rect">
            <a:avLst/>
          </a:prstGeom>
        </p:spPr>
      </p:pic>
      <p:sp>
        <p:nvSpPr>
          <p:cNvPr id="21" name="TextBox 20"/>
          <p:cNvSpPr txBox="1"/>
          <p:nvPr/>
        </p:nvSpPr>
        <p:spPr>
          <a:xfrm>
            <a:off x="566928" y="6473952"/>
            <a:ext cx="2743200" cy="201168"/>
          </a:xfrm>
          <a:prstGeom prst="rect">
            <a:avLst/>
          </a:prstGeom>
          <a:noFill/>
        </p:spPr>
        <p:txBody>
          <a:bodyPr wrap="none" lIns="18288" rIns="18288" tIns="18288" bIns="18288" anchor="t">
            <a:spAutoFit/>
          </a:bodyPr>
          <a:lstStyle/>
          <a:p>
            <a:pPr algn="l"/>
            <a:r>
              <a:rPr sz="900" b="0">
                <a:solidFill>
                  <a:srgbClr val="64748B"/>
                </a:solidFill>
                <a:latin typeface="Aptos Display"/>
              </a:rPr>
              <a:t>Embodied AI Final Project</a:t>
            </a:r>
          </a:p>
        </p:txBody>
      </p:sp>
      <p:sp>
        <p:nvSpPr>
          <p:cNvPr id="22" name="TextBox 21"/>
          <p:cNvSpPr txBox="1"/>
          <p:nvPr/>
        </p:nvSpPr>
        <p:spPr>
          <a:xfrm>
            <a:off x="11430000" y="6473952"/>
            <a:ext cx="384048" cy="201168"/>
          </a:xfrm>
          <a:prstGeom prst="rect">
            <a:avLst/>
          </a:prstGeom>
          <a:noFill/>
        </p:spPr>
        <p:txBody>
          <a:bodyPr wrap="none" lIns="18288" rIns="18288" tIns="18288" bIns="18288" anchor="t">
            <a:spAutoFit/>
          </a:bodyPr>
          <a:lstStyle/>
          <a:p>
            <a:pPr algn="r"/>
            <a:r>
              <a:rPr sz="900" b="0">
                <a:solidFill>
                  <a:srgbClr val="64748B"/>
                </a:solidFill>
                <a:latin typeface="Aptos Display"/>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47472"/>
            <a:ext cx="7772400" cy="530352"/>
          </a:xfrm>
          <a:prstGeom prst="rect">
            <a:avLst/>
          </a:prstGeom>
          <a:noFill/>
        </p:spPr>
        <p:txBody>
          <a:bodyPr wrap="none" lIns="18288" rIns="18288" tIns="18288" bIns="18288" anchor="t">
            <a:spAutoFit/>
          </a:bodyPr>
          <a:lstStyle/>
          <a:p>
            <a:pPr algn="l"/>
            <a:r>
              <a:rPr sz="3000" b="1">
                <a:solidFill>
                  <a:srgbClr val="0F172A"/>
                </a:solidFill>
                <a:latin typeface="Aptos Display"/>
              </a:rPr>
              <a:t>End-to-end pipeline</a:t>
            </a:r>
          </a:p>
        </p:txBody>
      </p:sp>
      <p:sp>
        <p:nvSpPr>
          <p:cNvPr id="3" name="TextBox 2"/>
          <p:cNvSpPr txBox="1"/>
          <p:nvPr/>
        </p:nvSpPr>
        <p:spPr>
          <a:xfrm>
            <a:off x="585216" y="877824"/>
            <a:ext cx="7955279" cy="310896"/>
          </a:xfrm>
          <a:prstGeom prst="rect">
            <a:avLst/>
          </a:prstGeom>
          <a:noFill/>
        </p:spPr>
        <p:txBody>
          <a:bodyPr wrap="none" lIns="18288" rIns="18288" tIns="18288" bIns="18288" anchor="t">
            <a:spAutoFit/>
          </a:bodyPr>
          <a:lstStyle/>
          <a:p>
            <a:pPr algn="l"/>
            <a:r>
              <a:rPr sz="1300" b="0">
                <a:solidFill>
                  <a:srgbClr val="64748B"/>
                </a:solidFill>
                <a:latin typeface="Aptos Display"/>
              </a:rPr>
              <a:t>Few real clips become a live actuator-constrained counterattack system.</a:t>
            </a:r>
          </a:p>
        </p:txBody>
      </p:sp>
      <p:sp>
        <p:nvSpPr>
          <p:cNvPr id="4" name="Rounded Rectangle 3"/>
          <p:cNvSpPr/>
          <p:nvPr/>
        </p:nvSpPr>
        <p:spPr>
          <a:xfrm>
            <a:off x="9619488" y="384048"/>
            <a:ext cx="2011680" cy="310896"/>
          </a:xfrm>
          <a:prstGeom prst="roundRect">
            <a:avLst/>
          </a:prstGeom>
          <a:solidFill>
            <a:srgbClr val="E0F2FE"/>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73152" rIns="73152" tIns="27432" bIns="27432"/>
          <a:lstStyle/>
          <a:p>
            <a:pPr algn="ctr"/>
            <a:r>
              <a:rPr sz="1000" b="1">
                <a:solidFill>
                  <a:srgbClr val="075985"/>
                </a:solidFill>
                <a:latin typeface="Aptos"/>
              </a:rPr>
              <a:t>SeungHwan</a:t>
            </a:r>
          </a:p>
        </p:txBody>
      </p:sp>
      <p:sp>
        <p:nvSpPr>
          <p:cNvPr id="5" name="Rounded Rectangle 4"/>
          <p:cNvSpPr/>
          <p:nvPr/>
        </p:nvSpPr>
        <p:spPr>
          <a:xfrm>
            <a:off x="658368" y="1078992"/>
            <a:ext cx="10881360" cy="50749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2290841" y="1188719"/>
            <a:ext cx="7616414" cy="4855464"/>
          </a:xfrm>
          <a:prstGeom prst="rect">
            <a:avLst/>
          </a:prstGeom>
        </p:spPr>
      </p:pic>
      <p:sp>
        <p:nvSpPr>
          <p:cNvPr id="7" name="TextBox 6"/>
          <p:cNvSpPr txBox="1"/>
          <p:nvPr/>
        </p:nvSpPr>
        <p:spPr>
          <a:xfrm>
            <a:off x="566928" y="6473952"/>
            <a:ext cx="2743200" cy="201168"/>
          </a:xfrm>
          <a:prstGeom prst="rect">
            <a:avLst/>
          </a:prstGeom>
          <a:noFill/>
        </p:spPr>
        <p:txBody>
          <a:bodyPr wrap="none" lIns="18288" rIns="18288" tIns="18288" bIns="18288" anchor="t">
            <a:spAutoFit/>
          </a:bodyPr>
          <a:lstStyle/>
          <a:p>
            <a:pPr algn="l"/>
            <a:r>
              <a:rPr sz="900" b="0">
                <a:solidFill>
                  <a:srgbClr val="64748B"/>
                </a:solidFill>
                <a:latin typeface="Aptos Display"/>
              </a:rPr>
              <a:t>Embodied AI Final Project</a:t>
            </a:r>
          </a:p>
        </p:txBody>
      </p:sp>
      <p:sp>
        <p:nvSpPr>
          <p:cNvPr id="8" name="TextBox 7"/>
          <p:cNvSpPr txBox="1"/>
          <p:nvPr/>
        </p:nvSpPr>
        <p:spPr>
          <a:xfrm>
            <a:off x="11430000" y="6473952"/>
            <a:ext cx="384048" cy="201168"/>
          </a:xfrm>
          <a:prstGeom prst="rect">
            <a:avLst/>
          </a:prstGeom>
          <a:noFill/>
        </p:spPr>
        <p:txBody>
          <a:bodyPr wrap="none" lIns="18288" rIns="18288" tIns="18288" bIns="18288" anchor="t">
            <a:spAutoFit/>
          </a:bodyPr>
          <a:lstStyle/>
          <a:p>
            <a:pPr algn="r"/>
            <a:r>
              <a:rPr sz="900" b="0">
                <a:solidFill>
                  <a:srgbClr val="64748B"/>
                </a:solidFill>
                <a:latin typeface="Aptos Display"/>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47472"/>
            <a:ext cx="7772400" cy="530352"/>
          </a:xfrm>
          <a:prstGeom prst="rect">
            <a:avLst/>
          </a:prstGeom>
          <a:noFill/>
        </p:spPr>
        <p:txBody>
          <a:bodyPr wrap="none" lIns="18288" rIns="18288" tIns="18288" bIns="18288" anchor="t">
            <a:spAutoFit/>
          </a:bodyPr>
          <a:lstStyle/>
          <a:p>
            <a:pPr algn="l"/>
            <a:r>
              <a:rPr sz="3000" b="1">
                <a:solidFill>
                  <a:srgbClr val="0F172A"/>
                </a:solidFill>
                <a:latin typeface="Aptos Display"/>
              </a:rPr>
              <a:t>Real seed capture: small but verified</a:t>
            </a:r>
          </a:p>
        </p:txBody>
      </p:sp>
      <p:sp>
        <p:nvSpPr>
          <p:cNvPr id="3" name="TextBox 2"/>
          <p:cNvSpPr txBox="1"/>
          <p:nvPr/>
        </p:nvSpPr>
        <p:spPr>
          <a:xfrm>
            <a:off x="585216" y="877824"/>
            <a:ext cx="7955279" cy="310896"/>
          </a:xfrm>
          <a:prstGeom prst="rect">
            <a:avLst/>
          </a:prstGeom>
          <a:noFill/>
        </p:spPr>
        <p:txBody>
          <a:bodyPr wrap="none" lIns="18288" rIns="18288" tIns="18288" bIns="18288" anchor="t">
            <a:spAutoFit/>
          </a:bodyPr>
          <a:lstStyle/>
          <a:p>
            <a:pPr algn="l"/>
            <a:r>
              <a:rPr sz="1300" b="0">
                <a:solidFill>
                  <a:srgbClr val="64748B"/>
                </a:solidFill>
                <a:latin typeface="Aptos Display"/>
              </a:rPr>
              <a:t>The project starts from a deliberately small real-video seed set.</a:t>
            </a:r>
          </a:p>
        </p:txBody>
      </p:sp>
      <p:sp>
        <p:nvSpPr>
          <p:cNvPr id="4" name="Rounded Rectangle 3"/>
          <p:cNvSpPr/>
          <p:nvPr/>
        </p:nvSpPr>
        <p:spPr>
          <a:xfrm>
            <a:off x="9619488" y="384048"/>
            <a:ext cx="2011680" cy="310896"/>
          </a:xfrm>
          <a:prstGeom prst="roundRect">
            <a:avLst/>
          </a:prstGeom>
          <a:solidFill>
            <a:srgbClr val="E0F2FE"/>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73152" rIns="73152" tIns="27432" bIns="27432"/>
          <a:lstStyle/>
          <a:p>
            <a:pPr algn="ctr"/>
            <a:r>
              <a:rPr sz="1000" b="1">
                <a:solidFill>
                  <a:srgbClr val="075985"/>
                </a:solidFill>
                <a:latin typeface="Aptos"/>
              </a:rPr>
              <a:t>SeungHwan</a:t>
            </a:r>
          </a:p>
        </p:txBody>
      </p:sp>
      <p:sp>
        <p:nvSpPr>
          <p:cNvPr id="5" name="Rounded Rectangle 4"/>
          <p:cNvSpPr/>
          <p:nvPr/>
        </p:nvSpPr>
        <p:spPr>
          <a:xfrm>
            <a:off x="731520" y="1325880"/>
            <a:ext cx="2194560" cy="84124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1444752"/>
            <a:ext cx="1901952" cy="310896"/>
          </a:xfrm>
          <a:prstGeom prst="rect">
            <a:avLst/>
          </a:prstGeom>
          <a:noFill/>
        </p:spPr>
        <p:txBody>
          <a:bodyPr wrap="none" lIns="18288" rIns="18288" tIns="18288" bIns="18288" anchor="t">
            <a:spAutoFit/>
          </a:bodyPr>
          <a:lstStyle/>
          <a:p>
            <a:pPr algn="l"/>
            <a:r>
              <a:rPr sz="2200" b="1">
                <a:solidFill>
                  <a:srgbClr val="2563EB"/>
                </a:solidFill>
                <a:latin typeface="Aptos Display"/>
              </a:rPr>
              <a:t>20</a:t>
            </a:r>
          </a:p>
        </p:txBody>
      </p:sp>
      <p:sp>
        <p:nvSpPr>
          <p:cNvPr id="7" name="TextBox 6"/>
          <p:cNvSpPr txBox="1"/>
          <p:nvPr/>
        </p:nvSpPr>
        <p:spPr>
          <a:xfrm>
            <a:off x="877824" y="1810512"/>
            <a:ext cx="1901952" cy="219456"/>
          </a:xfrm>
          <a:prstGeom prst="rect">
            <a:avLst/>
          </a:prstGeom>
          <a:noFill/>
        </p:spPr>
        <p:txBody>
          <a:bodyPr wrap="none" lIns="18288" rIns="18288" tIns="18288" bIns="18288" anchor="t">
            <a:spAutoFit/>
          </a:bodyPr>
          <a:lstStyle/>
          <a:p>
            <a:pPr algn="l"/>
            <a:r>
              <a:rPr sz="1000" b="0">
                <a:solidFill>
                  <a:srgbClr val="64748B"/>
                </a:solidFill>
                <a:latin typeface="Aptos Display"/>
              </a:rPr>
              <a:t>reviewed real clips</a:t>
            </a:r>
          </a:p>
        </p:txBody>
      </p:sp>
      <p:sp>
        <p:nvSpPr>
          <p:cNvPr id="8" name="Rounded Rectangle 7"/>
          <p:cNvSpPr/>
          <p:nvPr/>
        </p:nvSpPr>
        <p:spPr>
          <a:xfrm>
            <a:off x="3154680" y="1325880"/>
            <a:ext cx="2194560" cy="84124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00984" y="1444752"/>
            <a:ext cx="1901952" cy="310896"/>
          </a:xfrm>
          <a:prstGeom prst="rect">
            <a:avLst/>
          </a:prstGeom>
          <a:noFill/>
        </p:spPr>
        <p:txBody>
          <a:bodyPr wrap="none" lIns="18288" rIns="18288" tIns="18288" bIns="18288" anchor="t">
            <a:spAutoFit/>
          </a:bodyPr>
          <a:lstStyle/>
          <a:p>
            <a:pPr algn="l"/>
            <a:r>
              <a:rPr sz="2200" b="1">
                <a:solidFill>
                  <a:srgbClr val="0F766E"/>
                </a:solidFill>
                <a:latin typeface="Aptos Display"/>
              </a:rPr>
              <a:t>720</a:t>
            </a:r>
          </a:p>
        </p:txBody>
      </p:sp>
      <p:sp>
        <p:nvSpPr>
          <p:cNvPr id="10" name="TextBox 9"/>
          <p:cNvSpPr txBox="1"/>
          <p:nvPr/>
        </p:nvSpPr>
        <p:spPr>
          <a:xfrm>
            <a:off x="3300984" y="1810512"/>
            <a:ext cx="1901952" cy="219456"/>
          </a:xfrm>
          <a:prstGeom prst="rect">
            <a:avLst/>
          </a:prstGeom>
          <a:noFill/>
        </p:spPr>
        <p:txBody>
          <a:bodyPr wrap="none" lIns="18288" rIns="18288" tIns="18288" bIns="18288" anchor="t">
            <a:spAutoFit/>
          </a:bodyPr>
          <a:lstStyle/>
          <a:p>
            <a:pPr algn="l"/>
            <a:r>
              <a:rPr sz="1000" b="0">
                <a:solidFill>
                  <a:srgbClr val="64748B"/>
                </a:solidFill>
                <a:latin typeface="Aptos Display"/>
              </a:rPr>
              <a:t>processed frames</a:t>
            </a:r>
          </a:p>
        </p:txBody>
      </p:sp>
      <p:sp>
        <p:nvSpPr>
          <p:cNvPr id="11" name="Rounded Rectangle 10"/>
          <p:cNvSpPr/>
          <p:nvPr/>
        </p:nvSpPr>
        <p:spPr>
          <a:xfrm>
            <a:off x="5577840" y="1325880"/>
            <a:ext cx="2194560" cy="84124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24144" y="1444752"/>
            <a:ext cx="1901952" cy="310896"/>
          </a:xfrm>
          <a:prstGeom prst="rect">
            <a:avLst/>
          </a:prstGeom>
          <a:noFill/>
        </p:spPr>
        <p:txBody>
          <a:bodyPr wrap="none" lIns="18288" rIns="18288" tIns="18288" bIns="18288" anchor="t">
            <a:spAutoFit/>
          </a:bodyPr>
          <a:lstStyle/>
          <a:p>
            <a:pPr algn="l"/>
            <a:r>
              <a:rPr sz="2200" b="1">
                <a:solidFill>
                  <a:srgbClr val="15803D"/>
                </a:solidFill>
                <a:latin typeface="Aptos Display"/>
              </a:rPr>
              <a:t>1.0</a:t>
            </a:r>
          </a:p>
        </p:txBody>
      </p:sp>
      <p:sp>
        <p:nvSpPr>
          <p:cNvPr id="13" name="TextBox 12"/>
          <p:cNvSpPr txBox="1"/>
          <p:nvPr/>
        </p:nvSpPr>
        <p:spPr>
          <a:xfrm>
            <a:off x="5724144" y="1810512"/>
            <a:ext cx="1901952" cy="219456"/>
          </a:xfrm>
          <a:prstGeom prst="rect">
            <a:avLst/>
          </a:prstGeom>
          <a:noFill/>
        </p:spPr>
        <p:txBody>
          <a:bodyPr wrap="none" lIns="18288" rIns="18288" tIns="18288" bIns="18288" anchor="t">
            <a:spAutoFit/>
          </a:bodyPr>
          <a:lstStyle/>
          <a:p>
            <a:pPr algn="l"/>
            <a:r>
              <a:rPr sz="1000" b="0">
                <a:solidFill>
                  <a:srgbClr val="64748B"/>
                </a:solidFill>
                <a:latin typeface="Aptos Display"/>
              </a:rPr>
              <a:t>detection coverage</a:t>
            </a:r>
          </a:p>
        </p:txBody>
      </p:sp>
      <p:sp>
        <p:nvSpPr>
          <p:cNvPr id="14" name="Rounded Rectangle 13"/>
          <p:cNvSpPr/>
          <p:nvPr/>
        </p:nvSpPr>
        <p:spPr>
          <a:xfrm>
            <a:off x="8001000" y="1325880"/>
            <a:ext cx="2194560" cy="84124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47304" y="1444752"/>
            <a:ext cx="1901952" cy="310896"/>
          </a:xfrm>
          <a:prstGeom prst="rect">
            <a:avLst/>
          </a:prstGeom>
          <a:noFill/>
        </p:spPr>
        <p:txBody>
          <a:bodyPr wrap="none" lIns="18288" rIns="18288" tIns="18288" bIns="18288" anchor="t">
            <a:spAutoFit/>
          </a:bodyPr>
          <a:lstStyle/>
          <a:p>
            <a:pPr algn="l"/>
            <a:r>
              <a:rPr sz="2200" b="1">
                <a:solidFill>
                  <a:srgbClr val="6D28D9"/>
                </a:solidFill>
                <a:latin typeface="Aptos Display"/>
              </a:rPr>
              <a:t>2</a:t>
            </a:r>
          </a:p>
        </p:txBody>
      </p:sp>
      <p:sp>
        <p:nvSpPr>
          <p:cNvPr id="16" name="TextBox 15"/>
          <p:cNvSpPr txBox="1"/>
          <p:nvPr/>
        </p:nvSpPr>
        <p:spPr>
          <a:xfrm>
            <a:off x="8147304" y="1810512"/>
            <a:ext cx="1901952" cy="219456"/>
          </a:xfrm>
          <a:prstGeom prst="rect">
            <a:avLst/>
          </a:prstGeom>
          <a:noFill/>
        </p:spPr>
        <p:txBody>
          <a:bodyPr wrap="none" lIns="18288" rIns="18288" tIns="18288" bIns="18288" anchor="t">
            <a:spAutoFit/>
          </a:bodyPr>
          <a:lstStyle/>
          <a:p>
            <a:pPr algn="l"/>
            <a:r>
              <a:rPr sz="1000" b="0">
                <a:solidFill>
                  <a:srgbClr val="64748B"/>
                </a:solidFill>
                <a:latin typeface="Aptos Display"/>
              </a:rPr>
              <a:t>seed transitions</a:t>
            </a:r>
          </a:p>
        </p:txBody>
      </p:sp>
      <p:sp>
        <p:nvSpPr>
          <p:cNvPr id="17" name="TextBox 16"/>
          <p:cNvSpPr txBox="1"/>
          <p:nvPr/>
        </p:nvSpPr>
        <p:spPr>
          <a:xfrm>
            <a:off x="868680" y="2743200"/>
            <a:ext cx="4754880" cy="1645920"/>
          </a:xfrm>
          <a:prstGeom prst="rect">
            <a:avLst/>
          </a:prstGeom>
          <a:noFill/>
        </p:spPr>
        <p:txBody>
          <a:bodyPr wrap="none" lIns="36576" rIns="36576" tIns="18288" bIns="18288">
            <a:spAutoFit/>
          </a:bodyPr>
          <a:lstStyle/>
          <a:p>
            <a:pPr>
              <a:spcAft>
                <a:spcPts val="700"/>
              </a:spcAft>
              <a:defRPr sz="2000">
                <a:solidFill>
                  <a:srgbClr val="0F172A"/>
                </a:solidFill>
                <a:latin typeface="Aptos"/>
              </a:defRPr>
            </a:pPr>
            <a:r>
              <a:t>Real clips cover rock-to-paper and rock-to-scissors transitions.</a:t>
            </a:r>
          </a:p>
          <a:p>
            <a:pPr>
              <a:spcAft>
                <a:spcPts val="700"/>
              </a:spcAft>
              <a:defRPr sz="2000">
                <a:solidFill>
                  <a:srgbClr val="0F172A"/>
                </a:solidFill>
                <a:latin typeface="Aptos"/>
              </a:defRPr>
            </a:pPr>
            <a:r>
              <a:t>The seed set is intentionally few-shot, so the augmentation stage is central.</a:t>
            </a:r>
          </a:p>
          <a:p>
            <a:pPr>
              <a:spcAft>
                <a:spcPts val="700"/>
              </a:spcAft>
              <a:defRPr sz="2000">
                <a:solidFill>
                  <a:srgbClr val="0F172A"/>
                </a:solidFill>
                <a:latin typeface="Aptos"/>
              </a:defRPr>
            </a:pPr>
            <a:r>
              <a:t>Heldout test MP4s stay validation-only.</a:t>
            </a:r>
          </a:p>
        </p:txBody>
      </p:sp>
      <p:sp>
        <p:nvSpPr>
          <p:cNvPr id="18" name="Rounded Rectangle 17"/>
          <p:cNvSpPr/>
          <p:nvPr/>
        </p:nvSpPr>
        <p:spPr>
          <a:xfrm>
            <a:off x="5989320" y="2514600"/>
            <a:ext cx="5257800" cy="28803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2"/>
          <a:stretch>
            <a:fillRect/>
          </a:stretch>
        </p:blipFill>
        <p:spPr>
          <a:xfrm>
            <a:off x="6492240" y="2624328"/>
            <a:ext cx="4251960" cy="2551176"/>
          </a:xfrm>
          <a:prstGeom prst="rect">
            <a:avLst/>
          </a:prstGeom>
        </p:spPr>
      </p:pic>
      <p:sp>
        <p:nvSpPr>
          <p:cNvPr id="20" name="TextBox 19"/>
          <p:cNvSpPr txBox="1"/>
          <p:nvPr/>
        </p:nvSpPr>
        <p:spPr>
          <a:xfrm>
            <a:off x="6135624" y="5166360"/>
            <a:ext cx="4965192" cy="164592"/>
          </a:xfrm>
          <a:prstGeom prst="rect">
            <a:avLst/>
          </a:prstGeom>
          <a:noFill/>
        </p:spPr>
        <p:txBody>
          <a:bodyPr wrap="none" lIns="18288" rIns="18288" tIns="18288" bIns="18288" anchor="t">
            <a:spAutoFit/>
          </a:bodyPr>
          <a:lstStyle/>
          <a:p>
            <a:pPr algn="ctr"/>
            <a:r>
              <a:rPr sz="800" b="0">
                <a:solidFill>
                  <a:srgbClr val="64748B"/>
                </a:solidFill>
                <a:latin typeface="Aptos Display"/>
              </a:rPr>
              <a:t>Canonical seed preview from real MediaPipe landmarks</a:t>
            </a:r>
          </a:p>
        </p:txBody>
      </p:sp>
      <p:sp>
        <p:nvSpPr>
          <p:cNvPr id="21" name="TextBox 20"/>
          <p:cNvSpPr txBox="1"/>
          <p:nvPr/>
        </p:nvSpPr>
        <p:spPr>
          <a:xfrm>
            <a:off x="566928" y="6473952"/>
            <a:ext cx="2743200" cy="201168"/>
          </a:xfrm>
          <a:prstGeom prst="rect">
            <a:avLst/>
          </a:prstGeom>
          <a:noFill/>
        </p:spPr>
        <p:txBody>
          <a:bodyPr wrap="none" lIns="18288" rIns="18288" tIns="18288" bIns="18288" anchor="t">
            <a:spAutoFit/>
          </a:bodyPr>
          <a:lstStyle/>
          <a:p>
            <a:pPr algn="l"/>
            <a:r>
              <a:rPr sz="900" b="0">
                <a:solidFill>
                  <a:srgbClr val="64748B"/>
                </a:solidFill>
                <a:latin typeface="Aptos Display"/>
              </a:rPr>
              <a:t>Embodied AI Final Project</a:t>
            </a:r>
          </a:p>
        </p:txBody>
      </p:sp>
      <p:sp>
        <p:nvSpPr>
          <p:cNvPr id="22" name="TextBox 21"/>
          <p:cNvSpPr txBox="1"/>
          <p:nvPr/>
        </p:nvSpPr>
        <p:spPr>
          <a:xfrm>
            <a:off x="11430000" y="6473952"/>
            <a:ext cx="384048" cy="201168"/>
          </a:xfrm>
          <a:prstGeom prst="rect">
            <a:avLst/>
          </a:prstGeom>
          <a:noFill/>
        </p:spPr>
        <p:txBody>
          <a:bodyPr wrap="none" lIns="18288" rIns="18288" tIns="18288" bIns="18288" anchor="t">
            <a:spAutoFit/>
          </a:bodyPr>
          <a:lstStyle/>
          <a:p>
            <a:pPr algn="r"/>
            <a:r>
              <a:rPr sz="900" b="0">
                <a:solidFill>
                  <a:srgbClr val="64748B"/>
                </a:solidFill>
                <a:latin typeface="Aptos Display"/>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47472"/>
            <a:ext cx="7772400" cy="530352"/>
          </a:xfrm>
          <a:prstGeom prst="rect">
            <a:avLst/>
          </a:prstGeom>
          <a:noFill/>
        </p:spPr>
        <p:txBody>
          <a:bodyPr wrap="none" lIns="18288" rIns="18288" tIns="18288" bIns="18288" anchor="t">
            <a:spAutoFit/>
          </a:bodyPr>
          <a:lstStyle/>
          <a:p>
            <a:pPr algn="l"/>
            <a:r>
              <a:rPr sz="3000" b="1">
                <a:solidFill>
                  <a:srgbClr val="0F172A"/>
                </a:solidFill>
                <a:latin typeface="Aptos Display"/>
              </a:rPr>
              <a:t>MediaPipe skeleton representation</a:t>
            </a:r>
          </a:p>
        </p:txBody>
      </p:sp>
      <p:sp>
        <p:nvSpPr>
          <p:cNvPr id="3" name="TextBox 2"/>
          <p:cNvSpPr txBox="1"/>
          <p:nvPr/>
        </p:nvSpPr>
        <p:spPr>
          <a:xfrm>
            <a:off x="585216" y="877824"/>
            <a:ext cx="7955279" cy="310896"/>
          </a:xfrm>
          <a:prstGeom prst="rect">
            <a:avLst/>
          </a:prstGeom>
          <a:noFill/>
        </p:spPr>
        <p:txBody>
          <a:bodyPr wrap="none" lIns="18288" rIns="18288" tIns="18288" bIns="18288" anchor="t">
            <a:spAutoFit/>
          </a:bodyPr>
          <a:lstStyle/>
          <a:p>
            <a:pPr algn="l"/>
            <a:r>
              <a:rPr sz="1300" b="0">
                <a:solidFill>
                  <a:srgbClr val="64748B"/>
                </a:solidFill>
                <a:latin typeface="Aptos Display"/>
              </a:rPr>
              <a:t>Live video is converted into canonical temporal features, not raw image labels.</a:t>
            </a:r>
          </a:p>
        </p:txBody>
      </p:sp>
      <p:sp>
        <p:nvSpPr>
          <p:cNvPr id="4" name="Rounded Rectangle 3"/>
          <p:cNvSpPr/>
          <p:nvPr/>
        </p:nvSpPr>
        <p:spPr>
          <a:xfrm>
            <a:off x="9619488" y="384048"/>
            <a:ext cx="2011680" cy="310896"/>
          </a:xfrm>
          <a:prstGeom prst="roundRect">
            <a:avLst/>
          </a:prstGeom>
          <a:solidFill>
            <a:srgbClr val="E0F2FE"/>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73152" rIns="73152" tIns="27432" bIns="27432"/>
          <a:lstStyle/>
          <a:p>
            <a:pPr algn="ctr"/>
            <a:r>
              <a:rPr sz="1000" b="1">
                <a:solidFill>
                  <a:srgbClr val="075985"/>
                </a:solidFill>
                <a:latin typeface="Aptos"/>
              </a:rPr>
              <a:t>SeungHwan</a:t>
            </a:r>
          </a:p>
        </p:txBody>
      </p:sp>
      <p:sp>
        <p:nvSpPr>
          <p:cNvPr id="5" name="Rounded Rectangle 4"/>
          <p:cNvSpPr/>
          <p:nvPr/>
        </p:nvSpPr>
        <p:spPr>
          <a:xfrm>
            <a:off x="713232" y="1170432"/>
            <a:ext cx="5532120" cy="3977639"/>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822960" y="1565452"/>
            <a:ext cx="5312664" cy="3187598"/>
          </a:xfrm>
          <a:prstGeom prst="rect">
            <a:avLst/>
          </a:prstGeom>
        </p:spPr>
      </p:pic>
      <p:sp>
        <p:nvSpPr>
          <p:cNvPr id="7" name="Rounded Rectangle 6"/>
          <p:cNvSpPr/>
          <p:nvPr/>
        </p:nvSpPr>
        <p:spPr>
          <a:xfrm>
            <a:off x="6583680" y="1298448"/>
            <a:ext cx="4434840" cy="3566160"/>
          </a:xfrm>
          <a:prstGeom prst="roundRect">
            <a:avLst/>
          </a:prstGeom>
          <a:solidFill>
            <a:srgbClr val="ECFEFF"/>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76288" y="1572768"/>
            <a:ext cx="2560320" cy="310896"/>
          </a:xfrm>
          <a:prstGeom prst="rect">
            <a:avLst/>
          </a:prstGeom>
          <a:noFill/>
        </p:spPr>
        <p:txBody>
          <a:bodyPr wrap="none" lIns="18288" rIns="18288" tIns="18288" bIns="18288" anchor="t">
            <a:spAutoFit/>
          </a:bodyPr>
          <a:lstStyle/>
          <a:p>
            <a:pPr algn="l"/>
            <a:r>
              <a:rPr sz="2200" b="1">
                <a:solidFill>
                  <a:srgbClr val="0F766E"/>
                </a:solidFill>
                <a:latin typeface="Aptos Display"/>
              </a:rPr>
              <a:t>Feature vector</a:t>
            </a:r>
          </a:p>
        </p:txBody>
      </p:sp>
      <p:sp>
        <p:nvSpPr>
          <p:cNvPr id="9" name="TextBox 8"/>
          <p:cNvSpPr txBox="1"/>
          <p:nvPr/>
        </p:nvSpPr>
        <p:spPr>
          <a:xfrm>
            <a:off x="6903720" y="2029968"/>
            <a:ext cx="3749039" cy="2148840"/>
          </a:xfrm>
          <a:prstGeom prst="rect">
            <a:avLst/>
          </a:prstGeom>
          <a:noFill/>
        </p:spPr>
        <p:txBody>
          <a:bodyPr wrap="none" lIns="36576" rIns="36576" tIns="18288" bIns="18288">
            <a:spAutoFit/>
          </a:bodyPr>
          <a:lstStyle/>
          <a:p>
            <a:pPr>
              <a:spcAft>
                <a:spcPts val="700"/>
              </a:spcAft>
              <a:defRPr sz="1800">
                <a:solidFill>
                  <a:srgbClr val="0F172A"/>
                </a:solidFill>
                <a:latin typeface="Aptos"/>
              </a:defRPr>
            </a:pPr>
            <a:r>
              <a:t>21 canonical landmarks</a:t>
            </a:r>
          </a:p>
          <a:p>
            <a:pPr>
              <a:spcAft>
                <a:spcPts val="700"/>
              </a:spcAft>
              <a:defRPr sz="1800">
                <a:solidFill>
                  <a:srgbClr val="0F172A"/>
                </a:solidFill>
                <a:latin typeface="Aptos"/>
              </a:defRPr>
            </a:pPr>
            <a:r>
              <a:t>per-frame velocities</a:t>
            </a:r>
          </a:p>
          <a:p>
            <a:pPr>
              <a:spcAft>
                <a:spcPts val="700"/>
              </a:spcAft>
              <a:defRPr sz="1800">
                <a:solidFill>
                  <a:srgbClr val="0F172A"/>
                </a:solidFill>
                <a:latin typeface="Aptos"/>
              </a:defRPr>
            </a:pPr>
            <a:r>
              <a:t>five finger-curl values</a:t>
            </a:r>
          </a:p>
          <a:p>
            <a:pPr>
              <a:spcAft>
                <a:spcPts val="700"/>
              </a:spcAft>
              <a:defRPr sz="1800">
                <a:solidFill>
                  <a:srgbClr val="0F172A"/>
                </a:solidFill>
                <a:latin typeface="Aptos"/>
              </a:defRPr>
            </a:pPr>
            <a:r>
              <a:t>tip-to-MCP distances</a:t>
            </a:r>
          </a:p>
          <a:p>
            <a:pPr>
              <a:spcAft>
                <a:spcPts val="700"/>
              </a:spcAft>
              <a:defRPr sz="1800">
                <a:solidFill>
                  <a:srgbClr val="0F172A"/>
                </a:solidFill>
                <a:latin typeface="Aptos"/>
              </a:defRPr>
            </a:pPr>
            <a:r>
              <a:t>fingertip speeds</a:t>
            </a:r>
          </a:p>
          <a:p>
            <a:pPr>
              <a:spcAft>
                <a:spcPts val="700"/>
              </a:spcAft>
              <a:defRPr sz="1800">
                <a:solidFill>
                  <a:srgbClr val="0F172A"/>
                </a:solidFill>
                <a:latin typeface="Aptos"/>
              </a:defRPr>
            </a:pPr>
            <a:r>
              <a:t>motion signal</a:t>
            </a:r>
          </a:p>
        </p:txBody>
      </p:sp>
      <p:sp>
        <p:nvSpPr>
          <p:cNvPr id="10" name="Rounded Rectangle 9"/>
          <p:cNvSpPr/>
          <p:nvPr/>
        </p:nvSpPr>
        <p:spPr>
          <a:xfrm>
            <a:off x="6858000" y="5074920"/>
            <a:ext cx="2011680" cy="84124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04304" y="5193792"/>
            <a:ext cx="1719072" cy="310896"/>
          </a:xfrm>
          <a:prstGeom prst="rect">
            <a:avLst/>
          </a:prstGeom>
          <a:noFill/>
        </p:spPr>
        <p:txBody>
          <a:bodyPr wrap="none" lIns="18288" rIns="18288" tIns="18288" bIns="18288" anchor="t">
            <a:spAutoFit/>
          </a:bodyPr>
          <a:lstStyle/>
          <a:p>
            <a:pPr algn="l"/>
            <a:r>
              <a:rPr sz="2200" b="1">
                <a:solidFill>
                  <a:srgbClr val="0F766E"/>
                </a:solidFill>
                <a:latin typeface="Aptos Display"/>
              </a:rPr>
              <a:t>142-D</a:t>
            </a:r>
          </a:p>
        </p:txBody>
      </p:sp>
      <p:sp>
        <p:nvSpPr>
          <p:cNvPr id="12" name="TextBox 11"/>
          <p:cNvSpPr txBox="1"/>
          <p:nvPr/>
        </p:nvSpPr>
        <p:spPr>
          <a:xfrm>
            <a:off x="7004304" y="5559552"/>
            <a:ext cx="1719072" cy="219456"/>
          </a:xfrm>
          <a:prstGeom prst="rect">
            <a:avLst/>
          </a:prstGeom>
          <a:noFill/>
        </p:spPr>
        <p:txBody>
          <a:bodyPr wrap="none" lIns="18288" rIns="18288" tIns="18288" bIns="18288" anchor="t">
            <a:spAutoFit/>
          </a:bodyPr>
          <a:lstStyle/>
          <a:p>
            <a:pPr algn="l"/>
            <a:r>
              <a:rPr sz="1000" b="0">
                <a:solidFill>
                  <a:srgbClr val="64748B"/>
                </a:solidFill>
                <a:latin typeface="Aptos Display"/>
              </a:rPr>
              <a:t>per-frame dimensions</a:t>
            </a:r>
          </a:p>
        </p:txBody>
      </p:sp>
      <p:sp>
        <p:nvSpPr>
          <p:cNvPr id="13" name="Rounded Rectangle 12"/>
          <p:cNvSpPr/>
          <p:nvPr/>
        </p:nvSpPr>
        <p:spPr>
          <a:xfrm>
            <a:off x="9144000" y="5074920"/>
            <a:ext cx="1554480" cy="84124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90304" y="5193792"/>
            <a:ext cx="1261872" cy="310896"/>
          </a:xfrm>
          <a:prstGeom prst="rect">
            <a:avLst/>
          </a:prstGeom>
          <a:noFill/>
        </p:spPr>
        <p:txBody>
          <a:bodyPr wrap="none" lIns="18288" rIns="18288" tIns="18288" bIns="18288" anchor="t">
            <a:spAutoFit/>
          </a:bodyPr>
          <a:lstStyle/>
          <a:p>
            <a:pPr algn="l"/>
            <a:r>
              <a:rPr sz="2200" b="1">
                <a:solidFill>
                  <a:srgbClr val="2563EB"/>
                </a:solidFill>
                <a:latin typeface="Aptos Display"/>
              </a:rPr>
              <a:t>20</a:t>
            </a:r>
          </a:p>
        </p:txBody>
      </p:sp>
      <p:sp>
        <p:nvSpPr>
          <p:cNvPr id="15" name="TextBox 14"/>
          <p:cNvSpPr txBox="1"/>
          <p:nvPr/>
        </p:nvSpPr>
        <p:spPr>
          <a:xfrm>
            <a:off x="9290304" y="5559552"/>
            <a:ext cx="1261872" cy="219456"/>
          </a:xfrm>
          <a:prstGeom prst="rect">
            <a:avLst/>
          </a:prstGeom>
          <a:noFill/>
        </p:spPr>
        <p:txBody>
          <a:bodyPr wrap="none" lIns="18288" rIns="18288" tIns="18288" bIns="18288" anchor="t">
            <a:spAutoFit/>
          </a:bodyPr>
          <a:lstStyle/>
          <a:p>
            <a:pPr algn="l"/>
            <a:r>
              <a:rPr sz="1000" b="0">
                <a:solidFill>
                  <a:srgbClr val="64748B"/>
                </a:solidFill>
                <a:latin typeface="Aptos Display"/>
              </a:rPr>
              <a:t>canonical sequences</a:t>
            </a:r>
          </a:p>
        </p:txBody>
      </p:sp>
      <p:sp>
        <p:nvSpPr>
          <p:cNvPr id="16" name="TextBox 15"/>
          <p:cNvSpPr txBox="1"/>
          <p:nvPr/>
        </p:nvSpPr>
        <p:spPr>
          <a:xfrm>
            <a:off x="566928" y="6473952"/>
            <a:ext cx="2743200" cy="201168"/>
          </a:xfrm>
          <a:prstGeom prst="rect">
            <a:avLst/>
          </a:prstGeom>
          <a:noFill/>
        </p:spPr>
        <p:txBody>
          <a:bodyPr wrap="none" lIns="18288" rIns="18288" tIns="18288" bIns="18288" anchor="t">
            <a:spAutoFit/>
          </a:bodyPr>
          <a:lstStyle/>
          <a:p>
            <a:pPr algn="l"/>
            <a:r>
              <a:rPr sz="900" b="0">
                <a:solidFill>
                  <a:srgbClr val="64748B"/>
                </a:solidFill>
                <a:latin typeface="Aptos Display"/>
              </a:rPr>
              <a:t>Embodied AI Final Project</a:t>
            </a:r>
          </a:p>
        </p:txBody>
      </p:sp>
      <p:sp>
        <p:nvSpPr>
          <p:cNvPr id="17" name="TextBox 16"/>
          <p:cNvSpPr txBox="1"/>
          <p:nvPr/>
        </p:nvSpPr>
        <p:spPr>
          <a:xfrm>
            <a:off x="11430000" y="6473952"/>
            <a:ext cx="384048" cy="201168"/>
          </a:xfrm>
          <a:prstGeom prst="rect">
            <a:avLst/>
          </a:prstGeom>
          <a:noFill/>
        </p:spPr>
        <p:txBody>
          <a:bodyPr wrap="none" lIns="18288" rIns="18288" tIns="18288" bIns="18288" anchor="t">
            <a:spAutoFit/>
          </a:bodyPr>
          <a:lstStyle/>
          <a:p>
            <a:pPr algn="r"/>
            <a:r>
              <a:rPr sz="900" b="0">
                <a:solidFill>
                  <a:srgbClr val="64748B"/>
                </a:solidFill>
                <a:latin typeface="Aptos Display"/>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47472"/>
            <a:ext cx="7772400" cy="530352"/>
          </a:xfrm>
          <a:prstGeom prst="rect">
            <a:avLst/>
          </a:prstGeom>
          <a:noFill/>
        </p:spPr>
        <p:txBody>
          <a:bodyPr wrap="none" lIns="18288" rIns="18288" tIns="18288" bIns="18288" anchor="t">
            <a:spAutoFit/>
          </a:bodyPr>
          <a:lstStyle/>
          <a:p>
            <a:pPr algn="l"/>
            <a:r>
              <a:rPr sz="3000" b="1">
                <a:solidFill>
                  <a:srgbClr val="0F172A"/>
                </a:solidFill>
                <a:latin typeface="Aptos Display"/>
              </a:rPr>
              <a:t>Real-guided skeleton augmentation</a:t>
            </a:r>
          </a:p>
        </p:txBody>
      </p:sp>
      <p:sp>
        <p:nvSpPr>
          <p:cNvPr id="3" name="TextBox 2"/>
          <p:cNvSpPr txBox="1"/>
          <p:nvPr/>
        </p:nvSpPr>
        <p:spPr>
          <a:xfrm>
            <a:off x="585216" y="877824"/>
            <a:ext cx="7955279" cy="310896"/>
          </a:xfrm>
          <a:prstGeom prst="rect">
            <a:avLst/>
          </a:prstGeom>
          <a:noFill/>
        </p:spPr>
        <p:txBody>
          <a:bodyPr wrap="none" lIns="18288" rIns="18288" tIns="18288" bIns="18288" anchor="t">
            <a:spAutoFit/>
          </a:bodyPr>
          <a:lstStyle/>
          <a:p>
            <a:pPr algn="l"/>
            <a:r>
              <a:rPr sz="1300" b="0">
                <a:solidFill>
                  <a:srgbClr val="64748B"/>
                </a:solidFill>
                <a:latin typeface="Aptos Display"/>
              </a:rPr>
              <a:t>The few-shot seed set is expanded into trainable temporal variation.</a:t>
            </a:r>
          </a:p>
        </p:txBody>
      </p:sp>
      <p:sp>
        <p:nvSpPr>
          <p:cNvPr id="4" name="Rounded Rectangle 3"/>
          <p:cNvSpPr/>
          <p:nvPr/>
        </p:nvSpPr>
        <p:spPr>
          <a:xfrm>
            <a:off x="9619488" y="384048"/>
            <a:ext cx="2011680" cy="310896"/>
          </a:xfrm>
          <a:prstGeom prst="roundRect">
            <a:avLst/>
          </a:prstGeom>
          <a:solidFill>
            <a:srgbClr val="E0F2FE"/>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73152" rIns="73152" tIns="27432" bIns="27432"/>
          <a:lstStyle/>
          <a:p>
            <a:pPr algn="ctr"/>
            <a:r>
              <a:rPr sz="1000" b="1">
                <a:solidFill>
                  <a:srgbClr val="075985"/>
                </a:solidFill>
                <a:latin typeface="Aptos"/>
              </a:rPr>
              <a:t>SeungHwan</a:t>
            </a:r>
          </a:p>
        </p:txBody>
      </p:sp>
      <p:sp>
        <p:nvSpPr>
          <p:cNvPr id="5" name="Rounded Rectangle 4"/>
          <p:cNvSpPr/>
          <p:nvPr/>
        </p:nvSpPr>
        <p:spPr>
          <a:xfrm>
            <a:off x="685800" y="1143000"/>
            <a:ext cx="5074920" cy="43434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1717929" y="1252728"/>
            <a:ext cx="3010661" cy="4014215"/>
          </a:xfrm>
          <a:prstGeom prst="rect">
            <a:avLst/>
          </a:prstGeom>
        </p:spPr>
      </p:pic>
      <p:sp>
        <p:nvSpPr>
          <p:cNvPr id="7" name="TextBox 6"/>
          <p:cNvSpPr txBox="1"/>
          <p:nvPr/>
        </p:nvSpPr>
        <p:spPr>
          <a:xfrm>
            <a:off x="832104" y="5257800"/>
            <a:ext cx="4782312" cy="164592"/>
          </a:xfrm>
          <a:prstGeom prst="rect">
            <a:avLst/>
          </a:prstGeom>
          <a:noFill/>
        </p:spPr>
        <p:txBody>
          <a:bodyPr wrap="none" lIns="18288" rIns="18288" tIns="18288" bIns="18288" anchor="t">
            <a:spAutoFit/>
          </a:bodyPr>
          <a:lstStyle/>
          <a:p>
            <a:pPr algn="ctr"/>
            <a:r>
              <a:rPr sz="800" b="0">
                <a:solidFill>
                  <a:srgbClr val="64748B"/>
                </a:solidFill>
                <a:latin typeface="Aptos Display"/>
              </a:rPr>
              <a:t>Bulk augmented skeleton trajectories</a:t>
            </a:r>
          </a:p>
        </p:txBody>
      </p:sp>
      <p:sp>
        <p:nvSpPr>
          <p:cNvPr id="8" name="Rounded Rectangle 7"/>
          <p:cNvSpPr/>
          <p:nvPr/>
        </p:nvSpPr>
        <p:spPr>
          <a:xfrm>
            <a:off x="6172200" y="1417320"/>
            <a:ext cx="2331720" cy="84124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18504" y="1536192"/>
            <a:ext cx="2039112" cy="310896"/>
          </a:xfrm>
          <a:prstGeom prst="rect">
            <a:avLst/>
          </a:prstGeom>
          <a:noFill/>
        </p:spPr>
        <p:txBody>
          <a:bodyPr wrap="none" lIns="18288" rIns="18288" tIns="18288" bIns="18288" anchor="t">
            <a:spAutoFit/>
          </a:bodyPr>
          <a:lstStyle/>
          <a:p>
            <a:pPr algn="l"/>
            <a:r>
              <a:rPr sz="2200" b="1">
                <a:solidFill>
                  <a:srgbClr val="2563EB"/>
                </a:solidFill>
                <a:latin typeface="Aptos Display"/>
              </a:rPr>
              <a:t>2,000</a:t>
            </a:r>
          </a:p>
        </p:txBody>
      </p:sp>
      <p:sp>
        <p:nvSpPr>
          <p:cNvPr id="10" name="TextBox 9"/>
          <p:cNvSpPr txBox="1"/>
          <p:nvPr/>
        </p:nvSpPr>
        <p:spPr>
          <a:xfrm>
            <a:off x="6318504" y="1901952"/>
            <a:ext cx="2039112" cy="219456"/>
          </a:xfrm>
          <a:prstGeom prst="rect">
            <a:avLst/>
          </a:prstGeom>
          <a:noFill/>
        </p:spPr>
        <p:txBody>
          <a:bodyPr wrap="none" lIns="18288" rIns="18288" tIns="18288" bIns="18288" anchor="t">
            <a:spAutoFit/>
          </a:bodyPr>
          <a:lstStyle/>
          <a:p>
            <a:pPr algn="l"/>
            <a:r>
              <a:rPr sz="1000" b="0">
                <a:solidFill>
                  <a:srgbClr val="64748B"/>
                </a:solidFill>
                <a:latin typeface="Aptos Display"/>
              </a:rPr>
              <a:t>compact samples</a:t>
            </a:r>
          </a:p>
        </p:txBody>
      </p:sp>
      <p:sp>
        <p:nvSpPr>
          <p:cNvPr id="11" name="Rounded Rectangle 10"/>
          <p:cNvSpPr/>
          <p:nvPr/>
        </p:nvSpPr>
        <p:spPr>
          <a:xfrm>
            <a:off x="8778240" y="1417320"/>
            <a:ext cx="2514600" cy="84124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24544" y="1536192"/>
            <a:ext cx="2221992" cy="310896"/>
          </a:xfrm>
          <a:prstGeom prst="rect">
            <a:avLst/>
          </a:prstGeom>
          <a:noFill/>
        </p:spPr>
        <p:txBody>
          <a:bodyPr wrap="none" lIns="18288" rIns="18288" tIns="18288" bIns="18288" anchor="t">
            <a:spAutoFit/>
          </a:bodyPr>
          <a:lstStyle/>
          <a:p>
            <a:pPr algn="l"/>
            <a:r>
              <a:rPr sz="2200" b="1">
                <a:solidFill>
                  <a:srgbClr val="6D28D9"/>
                </a:solidFill>
                <a:latin typeface="Aptos Display"/>
              </a:rPr>
              <a:t>10,000</a:t>
            </a:r>
          </a:p>
        </p:txBody>
      </p:sp>
      <p:sp>
        <p:nvSpPr>
          <p:cNvPr id="13" name="TextBox 12"/>
          <p:cNvSpPr txBox="1"/>
          <p:nvPr/>
        </p:nvSpPr>
        <p:spPr>
          <a:xfrm>
            <a:off x="8924544" y="1901952"/>
            <a:ext cx="2221992" cy="219456"/>
          </a:xfrm>
          <a:prstGeom prst="rect">
            <a:avLst/>
          </a:prstGeom>
          <a:noFill/>
        </p:spPr>
        <p:txBody>
          <a:bodyPr wrap="none" lIns="18288" rIns="18288" tIns="18288" bIns="18288" anchor="t">
            <a:spAutoFit/>
          </a:bodyPr>
          <a:lstStyle/>
          <a:p>
            <a:pPr algn="l"/>
            <a:r>
              <a:rPr sz="1000" b="0">
                <a:solidFill>
                  <a:srgbClr val="64748B"/>
                </a:solidFill>
                <a:latin typeface="Aptos Display"/>
              </a:rPr>
              <a:t>large sharded samples</a:t>
            </a:r>
          </a:p>
        </p:txBody>
      </p:sp>
      <p:sp>
        <p:nvSpPr>
          <p:cNvPr id="14" name="TextBox 13"/>
          <p:cNvSpPr txBox="1"/>
          <p:nvPr/>
        </p:nvSpPr>
        <p:spPr>
          <a:xfrm>
            <a:off x="6217920" y="2697480"/>
            <a:ext cx="4800600" cy="2148840"/>
          </a:xfrm>
          <a:prstGeom prst="rect">
            <a:avLst/>
          </a:prstGeom>
          <a:noFill/>
        </p:spPr>
        <p:txBody>
          <a:bodyPr wrap="none" lIns="36576" rIns="36576" tIns="18288" bIns="18288">
            <a:spAutoFit/>
          </a:bodyPr>
          <a:lstStyle/>
          <a:p>
            <a:pPr>
              <a:spcAft>
                <a:spcPts val="700"/>
              </a:spcAft>
              <a:defRPr sz="1800">
                <a:solidFill>
                  <a:srgbClr val="0F172A"/>
                </a:solidFill>
                <a:latin typeface="Aptos"/>
              </a:defRPr>
            </a:pPr>
            <a:r>
              <a:t>Temporal scaling and warping preserve real motion structure.</a:t>
            </a:r>
          </a:p>
          <a:p>
            <a:pPr>
              <a:spcAft>
                <a:spcPts val="700"/>
              </a:spcAft>
              <a:defRPr sz="1800">
                <a:solidFill>
                  <a:srgbClr val="0F172A"/>
                </a:solidFill>
                <a:latin typeface="Aptos"/>
              </a:defRPr>
            </a:pPr>
            <a:r>
              <a:t>Finger-specific scaling creates controlled gesture variation.</a:t>
            </a:r>
          </a:p>
          <a:p>
            <a:pPr>
              <a:spcAft>
                <a:spcPts val="700"/>
              </a:spcAft>
              <a:defRPr sz="1800">
                <a:solidFill>
                  <a:srgbClr val="0F172A"/>
                </a:solidFill>
                <a:latin typeface="Aptos"/>
              </a:defRPr>
            </a:pPr>
            <a:r>
              <a:t>Noise and small rotations improve robustness without changing labels.</a:t>
            </a:r>
          </a:p>
          <a:p>
            <a:pPr>
              <a:spcAft>
                <a:spcPts val="700"/>
              </a:spcAft>
              <a:defRPr sz="1800">
                <a:solidFill>
                  <a:srgbClr val="0F172A"/>
                </a:solidFill>
                <a:latin typeface="Aptos"/>
              </a:defRPr>
            </a:pPr>
            <a:r>
              <a:t>Large split: 7,000 train / 1,500 validation / 1,500 test.</a:t>
            </a:r>
          </a:p>
        </p:txBody>
      </p:sp>
      <p:sp>
        <p:nvSpPr>
          <p:cNvPr id="15" name="TextBox 14"/>
          <p:cNvSpPr txBox="1"/>
          <p:nvPr/>
        </p:nvSpPr>
        <p:spPr>
          <a:xfrm>
            <a:off x="566928" y="6473952"/>
            <a:ext cx="2743200" cy="201168"/>
          </a:xfrm>
          <a:prstGeom prst="rect">
            <a:avLst/>
          </a:prstGeom>
          <a:noFill/>
        </p:spPr>
        <p:txBody>
          <a:bodyPr wrap="none" lIns="18288" rIns="18288" tIns="18288" bIns="18288" anchor="t">
            <a:spAutoFit/>
          </a:bodyPr>
          <a:lstStyle/>
          <a:p>
            <a:pPr algn="l"/>
            <a:r>
              <a:rPr sz="900" b="0">
                <a:solidFill>
                  <a:srgbClr val="64748B"/>
                </a:solidFill>
                <a:latin typeface="Aptos Display"/>
              </a:rPr>
              <a:t>Embodied AI Final Project</a:t>
            </a:r>
          </a:p>
        </p:txBody>
      </p:sp>
      <p:sp>
        <p:nvSpPr>
          <p:cNvPr id="16" name="TextBox 15"/>
          <p:cNvSpPr txBox="1"/>
          <p:nvPr/>
        </p:nvSpPr>
        <p:spPr>
          <a:xfrm>
            <a:off x="11430000" y="6473952"/>
            <a:ext cx="384048" cy="201168"/>
          </a:xfrm>
          <a:prstGeom prst="rect">
            <a:avLst/>
          </a:prstGeom>
          <a:noFill/>
        </p:spPr>
        <p:txBody>
          <a:bodyPr wrap="none" lIns="18288" rIns="18288" tIns="18288" bIns="18288" anchor="t">
            <a:spAutoFit/>
          </a:bodyPr>
          <a:lstStyle/>
          <a:p>
            <a:pPr algn="r"/>
            <a:r>
              <a:rPr sz="900" b="0">
                <a:solidFill>
                  <a:srgbClr val="64748B"/>
                </a:solidFill>
                <a:latin typeface="Aptos Display"/>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47472"/>
            <a:ext cx="7772400" cy="530352"/>
          </a:xfrm>
          <a:prstGeom prst="rect">
            <a:avLst/>
          </a:prstGeom>
          <a:noFill/>
        </p:spPr>
        <p:txBody>
          <a:bodyPr wrap="none" lIns="18288" rIns="18288" tIns="18288" bIns="18288" anchor="t">
            <a:spAutoFit/>
          </a:bodyPr>
          <a:lstStyle/>
          <a:p>
            <a:pPr algn="l"/>
            <a:r>
              <a:rPr sz="3000" b="1">
                <a:solidFill>
                  <a:srgbClr val="0F172A"/>
                </a:solidFill>
                <a:latin typeface="Aptos Display"/>
              </a:rPr>
              <a:t>Isaac/SCHUNK alignment makes the data render-ready</a:t>
            </a:r>
          </a:p>
        </p:txBody>
      </p:sp>
      <p:sp>
        <p:nvSpPr>
          <p:cNvPr id="3" name="TextBox 2"/>
          <p:cNvSpPr txBox="1"/>
          <p:nvPr/>
        </p:nvSpPr>
        <p:spPr>
          <a:xfrm>
            <a:off x="585216" y="877824"/>
            <a:ext cx="7955279" cy="310896"/>
          </a:xfrm>
          <a:prstGeom prst="rect">
            <a:avLst/>
          </a:prstGeom>
          <a:noFill/>
        </p:spPr>
        <p:txBody>
          <a:bodyPr wrap="none" lIns="18288" rIns="18288" tIns="18288" bIns="18288" anchor="t">
            <a:spAutoFit/>
          </a:bodyPr>
          <a:lstStyle/>
          <a:p>
            <a:pPr algn="l"/>
            <a:r>
              <a:rPr sz="1300" b="0">
                <a:solidFill>
                  <a:srgbClr val="64748B"/>
                </a:solidFill>
                <a:latin typeface="Aptos Display"/>
              </a:rPr>
              <a:t>Skeleton progress is aligned to a robot-hand response schedule.</a:t>
            </a:r>
          </a:p>
        </p:txBody>
      </p:sp>
      <p:sp>
        <p:nvSpPr>
          <p:cNvPr id="4" name="Rounded Rectangle 3"/>
          <p:cNvSpPr/>
          <p:nvPr/>
        </p:nvSpPr>
        <p:spPr>
          <a:xfrm>
            <a:off x="9619488" y="384048"/>
            <a:ext cx="2011680" cy="310896"/>
          </a:xfrm>
          <a:prstGeom prst="roundRect">
            <a:avLst/>
          </a:prstGeom>
          <a:solidFill>
            <a:srgbClr val="E0F2FE"/>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73152" rIns="73152" tIns="27432" bIns="27432"/>
          <a:lstStyle/>
          <a:p>
            <a:pPr algn="ctr"/>
            <a:r>
              <a:rPr sz="1000" b="1">
                <a:solidFill>
                  <a:srgbClr val="075985"/>
                </a:solidFill>
                <a:latin typeface="Aptos"/>
              </a:rPr>
              <a:t>SeungHwan</a:t>
            </a:r>
          </a:p>
        </p:txBody>
      </p:sp>
      <p:sp>
        <p:nvSpPr>
          <p:cNvPr id="5" name="Rounded Rectangle 4"/>
          <p:cNvSpPr/>
          <p:nvPr/>
        </p:nvSpPr>
        <p:spPr>
          <a:xfrm>
            <a:off x="685800" y="1170432"/>
            <a:ext cx="5074920" cy="28346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996188" y="1280160"/>
            <a:ext cx="4454144" cy="2505456"/>
          </a:xfrm>
          <a:prstGeom prst="rect">
            <a:avLst/>
          </a:prstGeom>
        </p:spPr>
      </p:pic>
      <p:sp>
        <p:nvSpPr>
          <p:cNvPr id="7" name="TextBox 6"/>
          <p:cNvSpPr txBox="1"/>
          <p:nvPr/>
        </p:nvSpPr>
        <p:spPr>
          <a:xfrm>
            <a:off x="832104" y="3776472"/>
            <a:ext cx="4782312" cy="164592"/>
          </a:xfrm>
          <a:prstGeom prst="rect">
            <a:avLst/>
          </a:prstGeom>
          <a:noFill/>
        </p:spPr>
        <p:txBody>
          <a:bodyPr wrap="none" lIns="18288" rIns="18288" tIns="18288" bIns="18288" anchor="t">
            <a:spAutoFit/>
          </a:bodyPr>
          <a:lstStyle/>
          <a:p>
            <a:pPr algn="ctr"/>
            <a:r>
              <a:rPr sz="800" b="0">
                <a:solidFill>
                  <a:srgbClr val="64748B"/>
                </a:solidFill>
                <a:latin typeface="Aptos Display"/>
              </a:rPr>
              <a:t>Progress-error comparison</a:t>
            </a:r>
          </a:p>
        </p:txBody>
      </p:sp>
      <p:sp>
        <p:nvSpPr>
          <p:cNvPr id="8" name="Rounded Rectangle 7"/>
          <p:cNvSpPr/>
          <p:nvPr/>
        </p:nvSpPr>
        <p:spPr>
          <a:xfrm>
            <a:off x="6080760" y="1170432"/>
            <a:ext cx="5074920" cy="28346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6391148" y="1280160"/>
            <a:ext cx="4454144" cy="2505456"/>
          </a:xfrm>
          <a:prstGeom prst="rect">
            <a:avLst/>
          </a:prstGeom>
        </p:spPr>
      </p:pic>
      <p:sp>
        <p:nvSpPr>
          <p:cNvPr id="10" name="TextBox 9"/>
          <p:cNvSpPr txBox="1"/>
          <p:nvPr/>
        </p:nvSpPr>
        <p:spPr>
          <a:xfrm>
            <a:off x="6227064" y="3776472"/>
            <a:ext cx="4782312" cy="164592"/>
          </a:xfrm>
          <a:prstGeom prst="rect">
            <a:avLst/>
          </a:prstGeom>
          <a:noFill/>
        </p:spPr>
        <p:txBody>
          <a:bodyPr wrap="none" lIns="18288" rIns="18288" tIns="18288" bIns="18288" anchor="t">
            <a:spAutoFit/>
          </a:bodyPr>
          <a:lstStyle/>
          <a:p>
            <a:pPr algn="ctr"/>
            <a:r>
              <a:rPr sz="800" b="0">
                <a:solidFill>
                  <a:srgbClr val="64748B"/>
                </a:solidFill>
                <a:latin typeface="Aptos Display"/>
              </a:rPr>
              <a:t>Real-guided pose schedule</a:t>
            </a:r>
          </a:p>
        </p:txBody>
      </p:sp>
      <p:sp>
        <p:nvSpPr>
          <p:cNvPr id="11" name="Rounded Rectangle 10"/>
          <p:cNvSpPr/>
          <p:nvPr/>
        </p:nvSpPr>
        <p:spPr>
          <a:xfrm>
            <a:off x="1188720" y="4434840"/>
            <a:ext cx="2514600" cy="84124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35024" y="4553712"/>
            <a:ext cx="2221992" cy="310896"/>
          </a:xfrm>
          <a:prstGeom prst="rect">
            <a:avLst/>
          </a:prstGeom>
          <a:noFill/>
        </p:spPr>
        <p:txBody>
          <a:bodyPr wrap="none" lIns="18288" rIns="18288" tIns="18288" bIns="18288" anchor="t">
            <a:spAutoFit/>
          </a:bodyPr>
          <a:lstStyle/>
          <a:p>
            <a:pPr algn="l"/>
            <a:r>
              <a:rPr sz="2200" b="1">
                <a:solidFill>
                  <a:srgbClr val="B91C1C"/>
                </a:solidFill>
                <a:latin typeface="Aptos Display"/>
              </a:rPr>
              <a:t>~0.106</a:t>
            </a:r>
          </a:p>
        </p:txBody>
      </p:sp>
      <p:sp>
        <p:nvSpPr>
          <p:cNvPr id="13" name="TextBox 12"/>
          <p:cNvSpPr txBox="1"/>
          <p:nvPr/>
        </p:nvSpPr>
        <p:spPr>
          <a:xfrm>
            <a:off x="1335024" y="4919472"/>
            <a:ext cx="2221992" cy="219456"/>
          </a:xfrm>
          <a:prstGeom prst="rect">
            <a:avLst/>
          </a:prstGeom>
          <a:noFill/>
        </p:spPr>
        <p:txBody>
          <a:bodyPr wrap="none" lIns="18288" rIns="18288" tIns="18288" bIns="18288" anchor="t">
            <a:spAutoFit/>
          </a:bodyPr>
          <a:lstStyle/>
          <a:p>
            <a:pPr algn="l"/>
            <a:r>
              <a:rPr sz="1000" b="0">
                <a:solidFill>
                  <a:srgbClr val="64748B"/>
                </a:solidFill>
                <a:latin typeface="Aptos Display"/>
              </a:rPr>
              <a:t>old max progress error</a:t>
            </a:r>
          </a:p>
        </p:txBody>
      </p:sp>
      <p:sp>
        <p:nvSpPr>
          <p:cNvPr id="14" name="Rounded Rectangle 13"/>
          <p:cNvSpPr/>
          <p:nvPr/>
        </p:nvSpPr>
        <p:spPr>
          <a:xfrm>
            <a:off x="4069080" y="4434840"/>
            <a:ext cx="2514600" cy="84124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5384" y="4553712"/>
            <a:ext cx="2221992" cy="310896"/>
          </a:xfrm>
          <a:prstGeom prst="rect">
            <a:avLst/>
          </a:prstGeom>
          <a:noFill/>
        </p:spPr>
        <p:txBody>
          <a:bodyPr wrap="none" lIns="18288" rIns="18288" tIns="18288" bIns="18288" anchor="t">
            <a:spAutoFit/>
          </a:bodyPr>
          <a:lstStyle/>
          <a:p>
            <a:pPr algn="l"/>
            <a:r>
              <a:rPr sz="2200" b="1">
                <a:solidFill>
                  <a:srgbClr val="15803D"/>
                </a:solidFill>
                <a:latin typeface="Aptos Display"/>
              </a:rPr>
              <a:t>~0.016</a:t>
            </a:r>
          </a:p>
        </p:txBody>
      </p:sp>
      <p:sp>
        <p:nvSpPr>
          <p:cNvPr id="16" name="TextBox 15"/>
          <p:cNvSpPr txBox="1"/>
          <p:nvPr/>
        </p:nvSpPr>
        <p:spPr>
          <a:xfrm>
            <a:off x="4215384" y="4919472"/>
            <a:ext cx="2221992" cy="219456"/>
          </a:xfrm>
          <a:prstGeom prst="rect">
            <a:avLst/>
          </a:prstGeom>
          <a:noFill/>
        </p:spPr>
        <p:txBody>
          <a:bodyPr wrap="none" lIns="18288" rIns="18288" tIns="18288" bIns="18288" anchor="t">
            <a:spAutoFit/>
          </a:bodyPr>
          <a:lstStyle/>
          <a:p>
            <a:pPr algn="l"/>
            <a:r>
              <a:rPr sz="1000" b="0">
                <a:solidFill>
                  <a:srgbClr val="64748B"/>
                </a:solidFill>
                <a:latin typeface="Aptos Display"/>
              </a:rPr>
              <a:t>32-frame max error</a:t>
            </a:r>
          </a:p>
        </p:txBody>
      </p:sp>
      <p:sp>
        <p:nvSpPr>
          <p:cNvPr id="17" name="Rounded Rectangle 16"/>
          <p:cNvSpPr/>
          <p:nvPr/>
        </p:nvSpPr>
        <p:spPr>
          <a:xfrm>
            <a:off x="6949440" y="4434840"/>
            <a:ext cx="2148840" cy="84124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95744" y="4553712"/>
            <a:ext cx="1856232" cy="310896"/>
          </a:xfrm>
          <a:prstGeom prst="rect">
            <a:avLst/>
          </a:prstGeom>
          <a:noFill/>
        </p:spPr>
        <p:txBody>
          <a:bodyPr wrap="none" lIns="18288" rIns="18288" tIns="18288" bIns="18288" anchor="t">
            <a:spAutoFit/>
          </a:bodyPr>
          <a:lstStyle/>
          <a:p>
            <a:pPr algn="l"/>
            <a:r>
              <a:rPr sz="2200" b="1">
                <a:solidFill>
                  <a:srgbClr val="2563EB"/>
                </a:solidFill>
                <a:latin typeface="Aptos Display"/>
              </a:rPr>
              <a:t>64</a:t>
            </a:r>
          </a:p>
        </p:txBody>
      </p:sp>
      <p:sp>
        <p:nvSpPr>
          <p:cNvPr id="19" name="TextBox 18"/>
          <p:cNvSpPr txBox="1"/>
          <p:nvPr/>
        </p:nvSpPr>
        <p:spPr>
          <a:xfrm>
            <a:off x="7095744" y="4919472"/>
            <a:ext cx="1856232" cy="219456"/>
          </a:xfrm>
          <a:prstGeom prst="rect">
            <a:avLst/>
          </a:prstGeom>
          <a:noFill/>
        </p:spPr>
        <p:txBody>
          <a:bodyPr wrap="none" lIns="18288" rIns="18288" tIns="18288" bIns="18288" anchor="t">
            <a:spAutoFit/>
          </a:bodyPr>
          <a:lstStyle/>
          <a:p>
            <a:pPr algn="l"/>
            <a:r>
              <a:rPr sz="1000" b="0">
                <a:solidFill>
                  <a:srgbClr val="64748B"/>
                </a:solidFill>
                <a:latin typeface="Aptos Display"/>
              </a:rPr>
              <a:t>render-manifest entries</a:t>
            </a:r>
          </a:p>
        </p:txBody>
      </p:sp>
      <p:sp>
        <p:nvSpPr>
          <p:cNvPr id="20" name="TextBox 19"/>
          <p:cNvSpPr txBox="1"/>
          <p:nvPr/>
        </p:nvSpPr>
        <p:spPr>
          <a:xfrm>
            <a:off x="914400" y="5641848"/>
            <a:ext cx="10332720" cy="347472"/>
          </a:xfrm>
          <a:prstGeom prst="rect">
            <a:avLst/>
          </a:prstGeom>
          <a:noFill/>
        </p:spPr>
        <p:txBody>
          <a:bodyPr wrap="none" lIns="18288" rIns="18288" tIns="18288" bIns="18288" anchor="t">
            <a:spAutoFit/>
          </a:bodyPr>
          <a:lstStyle/>
          <a:p>
            <a:pPr algn="ctr"/>
            <a:r>
              <a:rPr sz="1700" b="0">
                <a:solidFill>
                  <a:srgbClr val="475569"/>
                </a:solidFill>
                <a:latin typeface="Aptos Display"/>
              </a:rPr>
              <a:t>This stage connects skeleton learning to the later SCHUNK/Isaac response layer without claiming fresh image-conditioned training.</a:t>
            </a:r>
          </a:p>
        </p:txBody>
      </p:sp>
      <p:sp>
        <p:nvSpPr>
          <p:cNvPr id="21" name="TextBox 20"/>
          <p:cNvSpPr txBox="1"/>
          <p:nvPr/>
        </p:nvSpPr>
        <p:spPr>
          <a:xfrm>
            <a:off x="566928" y="6473952"/>
            <a:ext cx="2743200" cy="201168"/>
          </a:xfrm>
          <a:prstGeom prst="rect">
            <a:avLst/>
          </a:prstGeom>
          <a:noFill/>
        </p:spPr>
        <p:txBody>
          <a:bodyPr wrap="none" lIns="18288" rIns="18288" tIns="18288" bIns="18288" anchor="t">
            <a:spAutoFit/>
          </a:bodyPr>
          <a:lstStyle/>
          <a:p>
            <a:pPr algn="l"/>
            <a:r>
              <a:rPr sz="900" b="0">
                <a:solidFill>
                  <a:srgbClr val="64748B"/>
                </a:solidFill>
                <a:latin typeface="Aptos Display"/>
              </a:rPr>
              <a:t>Embodied AI Final Project</a:t>
            </a:r>
          </a:p>
        </p:txBody>
      </p:sp>
      <p:sp>
        <p:nvSpPr>
          <p:cNvPr id="22" name="TextBox 21"/>
          <p:cNvSpPr txBox="1"/>
          <p:nvPr/>
        </p:nvSpPr>
        <p:spPr>
          <a:xfrm>
            <a:off x="11430000" y="6473952"/>
            <a:ext cx="384048" cy="201168"/>
          </a:xfrm>
          <a:prstGeom prst="rect">
            <a:avLst/>
          </a:prstGeom>
          <a:noFill/>
        </p:spPr>
        <p:txBody>
          <a:bodyPr wrap="none" lIns="18288" rIns="18288" tIns="18288" bIns="18288" anchor="t">
            <a:spAutoFit/>
          </a:bodyPr>
          <a:lstStyle/>
          <a:p>
            <a:pPr algn="r"/>
            <a:r>
              <a:rPr sz="900" b="0">
                <a:solidFill>
                  <a:srgbClr val="64748B"/>
                </a:solidFill>
                <a:latin typeface="Aptos Display"/>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47472"/>
            <a:ext cx="7772400" cy="530352"/>
          </a:xfrm>
          <a:prstGeom prst="rect">
            <a:avLst/>
          </a:prstGeom>
          <a:noFill/>
        </p:spPr>
        <p:txBody>
          <a:bodyPr wrap="none" lIns="18288" rIns="18288" tIns="18288" bIns="18288" anchor="t">
            <a:spAutoFit/>
          </a:bodyPr>
          <a:lstStyle/>
          <a:p>
            <a:pPr algn="l"/>
            <a:r>
              <a:rPr sz="3000" b="1">
                <a:solidFill>
                  <a:srgbClr val="0F172A"/>
                </a:solidFill>
                <a:latin typeface="Aptos Display"/>
              </a:rPr>
              <a:t>Temporal predictor and live policy</a:t>
            </a:r>
          </a:p>
        </p:txBody>
      </p:sp>
      <p:sp>
        <p:nvSpPr>
          <p:cNvPr id="3" name="TextBox 2"/>
          <p:cNvSpPr txBox="1"/>
          <p:nvPr/>
        </p:nvSpPr>
        <p:spPr>
          <a:xfrm>
            <a:off x="585216" y="877824"/>
            <a:ext cx="7955279" cy="310896"/>
          </a:xfrm>
          <a:prstGeom prst="rect">
            <a:avLst/>
          </a:prstGeom>
          <a:noFill/>
        </p:spPr>
        <p:txBody>
          <a:bodyPr wrap="none" lIns="18288" rIns="18288" tIns="18288" bIns="18288" anchor="t">
            <a:spAutoFit/>
          </a:bodyPr>
          <a:lstStyle/>
          <a:p>
            <a:pPr algn="l"/>
            <a:r>
              <a:rPr sz="1300" b="0">
                <a:solidFill>
                  <a:srgbClr val="64748B"/>
                </a:solidFill>
                <a:latin typeface="Aptos Display"/>
              </a:rPr>
              <a:t>The final demo uses frozen v4; v7e stays diagnostic-only.</a:t>
            </a:r>
          </a:p>
        </p:txBody>
      </p:sp>
      <p:sp>
        <p:nvSpPr>
          <p:cNvPr id="4" name="Rounded Rectangle 3"/>
          <p:cNvSpPr/>
          <p:nvPr/>
        </p:nvSpPr>
        <p:spPr>
          <a:xfrm>
            <a:off x="9619488" y="384048"/>
            <a:ext cx="2011680" cy="310896"/>
          </a:xfrm>
          <a:prstGeom prst="roundRect">
            <a:avLst/>
          </a:prstGeom>
          <a:solidFill>
            <a:srgbClr val="E0F2FE"/>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73152" rIns="73152" tIns="27432" bIns="27432"/>
          <a:lstStyle/>
          <a:p>
            <a:pPr algn="ctr"/>
            <a:r>
              <a:rPr sz="1000" b="1">
                <a:solidFill>
                  <a:srgbClr val="075985"/>
                </a:solidFill>
                <a:latin typeface="Aptos"/>
              </a:rPr>
              <a:t>MinKyu</a:t>
            </a:r>
          </a:p>
        </p:txBody>
      </p:sp>
      <p:sp>
        <p:nvSpPr>
          <p:cNvPr id="5" name="Rounded Rectangle 4"/>
          <p:cNvSpPr/>
          <p:nvPr/>
        </p:nvSpPr>
        <p:spPr>
          <a:xfrm>
            <a:off x="749808" y="1143000"/>
            <a:ext cx="3977639" cy="41148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859536" y="1848255"/>
            <a:ext cx="3758183" cy="2594561"/>
          </a:xfrm>
          <a:prstGeom prst="rect">
            <a:avLst/>
          </a:prstGeom>
        </p:spPr>
      </p:pic>
      <p:sp>
        <p:nvSpPr>
          <p:cNvPr id="7" name="TextBox 6"/>
          <p:cNvSpPr txBox="1"/>
          <p:nvPr/>
        </p:nvSpPr>
        <p:spPr>
          <a:xfrm>
            <a:off x="896112" y="5029200"/>
            <a:ext cx="3685031" cy="164592"/>
          </a:xfrm>
          <a:prstGeom prst="rect">
            <a:avLst/>
          </a:prstGeom>
          <a:noFill/>
        </p:spPr>
        <p:txBody>
          <a:bodyPr wrap="none" lIns="18288" rIns="18288" tIns="18288" bIns="18288" anchor="t">
            <a:spAutoFit/>
          </a:bodyPr>
          <a:lstStyle/>
          <a:p>
            <a:pPr algn="ctr"/>
            <a:r>
              <a:rPr sz="800" b="0">
                <a:solidFill>
                  <a:srgbClr val="64748B"/>
                </a:solidFill>
                <a:latin typeface="Aptos Display"/>
              </a:rPr>
              <a:t>TCN-style temporal model schematic</a:t>
            </a:r>
          </a:p>
        </p:txBody>
      </p:sp>
      <p:sp>
        <p:nvSpPr>
          <p:cNvPr id="8" name="Rounded Rectangle 7"/>
          <p:cNvSpPr/>
          <p:nvPr/>
        </p:nvSpPr>
        <p:spPr>
          <a:xfrm>
            <a:off x="5166360" y="1188720"/>
            <a:ext cx="5989320" cy="4069080"/>
          </a:xfrm>
          <a:prstGeom prst="roundRect">
            <a:avLst/>
          </a:prstGeom>
          <a:solidFill>
            <a:srgbClr val="F5F3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68112" y="1481328"/>
            <a:ext cx="3931920" cy="329184"/>
          </a:xfrm>
          <a:prstGeom prst="rect">
            <a:avLst/>
          </a:prstGeom>
          <a:noFill/>
        </p:spPr>
        <p:txBody>
          <a:bodyPr wrap="none" lIns="18288" rIns="18288" tIns="18288" bIns="18288" anchor="t">
            <a:spAutoFit/>
          </a:bodyPr>
          <a:lstStyle/>
          <a:p>
            <a:pPr algn="l"/>
            <a:r>
              <a:rPr sz="2200" b="1">
                <a:solidFill>
                  <a:srgbClr val="6D28D9"/>
                </a:solidFill>
                <a:latin typeface="Aptos Display"/>
              </a:rPr>
              <a:t>Frozen live/demo policy</a:t>
            </a:r>
          </a:p>
        </p:txBody>
      </p:sp>
      <p:sp>
        <p:nvSpPr>
          <p:cNvPr id="10" name="TextBox 9"/>
          <p:cNvSpPr txBox="1"/>
          <p:nvPr/>
        </p:nvSpPr>
        <p:spPr>
          <a:xfrm>
            <a:off x="5486400" y="1938528"/>
            <a:ext cx="5212080" cy="2423160"/>
          </a:xfrm>
          <a:prstGeom prst="rect">
            <a:avLst/>
          </a:prstGeom>
          <a:noFill/>
        </p:spPr>
        <p:txBody>
          <a:bodyPr wrap="none" lIns="36576" rIns="36576" tIns="18288" bIns="18288">
            <a:spAutoFit/>
          </a:bodyPr>
          <a:lstStyle/>
          <a:p>
            <a:pPr>
              <a:spcAft>
                <a:spcPts val="700"/>
              </a:spcAft>
              <a:defRPr sz="1800">
                <a:solidFill>
                  <a:srgbClr val="0F172A"/>
                </a:solidFill>
                <a:latin typeface="Aptos"/>
              </a:defRPr>
            </a:pPr>
            <a:r>
              <a:t>v4 fallback predictor</a:t>
            </a:r>
          </a:p>
          <a:p>
            <a:pPr>
              <a:spcAft>
                <a:spcPts val="700"/>
              </a:spcAft>
              <a:defRPr sz="1800">
                <a:solidFill>
                  <a:srgbClr val="0F172A"/>
                </a:solidFill>
                <a:latin typeface="Aptos"/>
              </a:defRPr>
            </a:pPr>
            <a:r>
              <a:t>profile weights: 0.25 / 0.75 / 0.0</a:t>
            </a:r>
          </a:p>
          <a:p>
            <a:pPr>
              <a:spcAft>
                <a:spcPts val="700"/>
              </a:spcAft>
              <a:defRPr sz="1800">
                <a:solidFill>
                  <a:srgbClr val="0F172A"/>
                </a:solidFill>
                <a:latin typeface="Aptos"/>
              </a:defRPr>
            </a:pPr>
            <a:r>
              <a:t>confidence &gt;= 0.70, margin &gt;= 0.10</a:t>
            </a:r>
          </a:p>
          <a:p>
            <a:pPr>
              <a:spcAft>
                <a:spcPts val="700"/>
              </a:spcAft>
              <a:defRPr sz="1800">
                <a:solidFill>
                  <a:srgbClr val="0F172A"/>
                </a:solidFill>
                <a:latin typeface="Aptos"/>
              </a:defRPr>
            </a:pPr>
            <a:r>
              <a:t>confirmation count = 2</a:t>
            </a:r>
          </a:p>
          <a:p>
            <a:pPr>
              <a:spcAft>
                <a:spcPts val="700"/>
              </a:spcAft>
              <a:defRPr sz="1800">
                <a:solidFill>
                  <a:srgbClr val="0F172A"/>
                </a:solidFill>
                <a:latin typeface="Aptos"/>
              </a:defRPr>
            </a:pPr>
            <a:r>
              <a:t>response prompt = scissors</a:t>
            </a:r>
          </a:p>
          <a:p>
            <a:pPr>
              <a:spcAft>
                <a:spcPts val="700"/>
              </a:spcAft>
              <a:defRPr sz="1800">
                <a:solidFill>
                  <a:srgbClr val="0F172A"/>
                </a:solidFill>
                <a:latin typeface="Aptos"/>
              </a:defRPr>
            </a:pPr>
            <a:r>
              <a:t>v7e: diagnostics only, original20 = 17/20</a:t>
            </a:r>
          </a:p>
        </p:txBody>
      </p:sp>
      <p:sp>
        <p:nvSpPr>
          <p:cNvPr id="11" name="TextBox 10"/>
          <p:cNvSpPr txBox="1"/>
          <p:nvPr/>
        </p:nvSpPr>
        <p:spPr>
          <a:xfrm>
            <a:off x="566928" y="6473952"/>
            <a:ext cx="2743200" cy="201168"/>
          </a:xfrm>
          <a:prstGeom prst="rect">
            <a:avLst/>
          </a:prstGeom>
          <a:noFill/>
        </p:spPr>
        <p:txBody>
          <a:bodyPr wrap="none" lIns="18288" rIns="18288" tIns="18288" bIns="18288" anchor="t">
            <a:spAutoFit/>
          </a:bodyPr>
          <a:lstStyle/>
          <a:p>
            <a:pPr algn="l"/>
            <a:r>
              <a:rPr sz="900" b="0">
                <a:solidFill>
                  <a:srgbClr val="64748B"/>
                </a:solidFill>
                <a:latin typeface="Aptos Display"/>
              </a:rPr>
              <a:t>Embodied AI Final Project</a:t>
            </a:r>
          </a:p>
        </p:txBody>
      </p:sp>
      <p:sp>
        <p:nvSpPr>
          <p:cNvPr id="12" name="TextBox 11"/>
          <p:cNvSpPr txBox="1"/>
          <p:nvPr/>
        </p:nvSpPr>
        <p:spPr>
          <a:xfrm>
            <a:off x="11430000" y="6473952"/>
            <a:ext cx="384048" cy="201168"/>
          </a:xfrm>
          <a:prstGeom prst="rect">
            <a:avLst/>
          </a:prstGeom>
          <a:noFill/>
        </p:spPr>
        <p:txBody>
          <a:bodyPr wrap="none" lIns="18288" rIns="18288" tIns="18288" bIns="18288" anchor="t">
            <a:spAutoFit/>
          </a:bodyPr>
          <a:lstStyle/>
          <a:p>
            <a:pPr algn="r"/>
            <a:r>
              <a:rPr sz="900" b="0">
                <a:solidFill>
                  <a:srgbClr val="64748B"/>
                </a:solidFill>
                <a:latin typeface="Aptos Display"/>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47472"/>
            <a:ext cx="7772400" cy="530352"/>
          </a:xfrm>
          <a:prstGeom prst="rect">
            <a:avLst/>
          </a:prstGeom>
          <a:noFill/>
        </p:spPr>
        <p:txBody>
          <a:bodyPr wrap="none" lIns="18288" rIns="18288" tIns="18288" bIns="18288" anchor="t">
            <a:spAutoFit/>
          </a:bodyPr>
          <a:lstStyle/>
          <a:p>
            <a:pPr algn="l"/>
            <a:r>
              <a:rPr sz="3000" b="1">
                <a:solidFill>
                  <a:srgbClr val="0F172A"/>
                </a:solidFill>
                <a:latin typeface="Aptos Display"/>
              </a:rPr>
              <a:t>Counterattack policy</a:t>
            </a:r>
          </a:p>
        </p:txBody>
      </p:sp>
      <p:sp>
        <p:nvSpPr>
          <p:cNvPr id="3" name="TextBox 2"/>
          <p:cNvSpPr txBox="1"/>
          <p:nvPr/>
        </p:nvSpPr>
        <p:spPr>
          <a:xfrm>
            <a:off x="585216" y="877824"/>
            <a:ext cx="7955279" cy="310896"/>
          </a:xfrm>
          <a:prstGeom prst="rect">
            <a:avLst/>
          </a:prstGeom>
          <a:noFill/>
        </p:spPr>
        <p:txBody>
          <a:bodyPr wrap="none" lIns="18288" rIns="18288" tIns="18288" bIns="18288" anchor="t">
            <a:spAutoFit/>
          </a:bodyPr>
          <a:lstStyle/>
          <a:p>
            <a:pPr algn="l"/>
            <a:r>
              <a:rPr sz="1300" b="0">
                <a:solidFill>
                  <a:srgbClr val="64748B"/>
                </a:solidFill>
                <a:latin typeface="Aptos Display"/>
              </a:rPr>
              <a:t>The robot starts from rock and only moves after a confirmed response-window decision.</a:t>
            </a:r>
          </a:p>
        </p:txBody>
      </p:sp>
      <p:sp>
        <p:nvSpPr>
          <p:cNvPr id="4" name="Rounded Rectangle 3"/>
          <p:cNvSpPr/>
          <p:nvPr/>
        </p:nvSpPr>
        <p:spPr>
          <a:xfrm>
            <a:off x="9619488" y="384048"/>
            <a:ext cx="2011680" cy="310896"/>
          </a:xfrm>
          <a:prstGeom prst="roundRect">
            <a:avLst/>
          </a:prstGeom>
          <a:solidFill>
            <a:srgbClr val="E0F2FE"/>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73152" rIns="73152" tIns="27432" bIns="27432"/>
          <a:lstStyle/>
          <a:p>
            <a:pPr algn="ctr"/>
            <a:r>
              <a:rPr sz="1000" b="1">
                <a:solidFill>
                  <a:srgbClr val="075985"/>
                </a:solidFill>
                <a:latin typeface="Aptos"/>
              </a:rPr>
              <a:t>MinKyu</a:t>
            </a:r>
          </a:p>
        </p:txBody>
      </p:sp>
      <p:graphicFrame>
        <p:nvGraphicFramePr>
          <p:cNvPr id="5" name="Table 4"/>
          <p:cNvGraphicFramePr>
            <a:graphicFrameLocks noGrp="1"/>
          </p:cNvGraphicFramePr>
          <p:nvPr/>
        </p:nvGraphicFramePr>
        <p:xfrm>
          <a:off x="822960" y="1325880"/>
          <a:ext cx="4800600" cy="2331720"/>
        </p:xfrm>
        <a:graphic>
          <a:graphicData uri="http://schemas.openxmlformats.org/drawingml/2006/table">
            <a:tbl>
              <a:tblPr firstRow="1" bandRow="1">
                <a:tableStyleId>{5C22544A-7EE6-4342-B048-85BDC9FD1C3A}</a:tableStyleId>
              </a:tblPr>
              <a:tblGrid>
                <a:gridCol w="1600200"/>
                <a:gridCol w="1600200"/>
                <a:gridCol w="1600200"/>
              </a:tblGrid>
              <a:tr h="582930">
                <a:tc>
                  <a:txBody>
                    <a:bodyPr/>
                    <a:lstStyle/>
                    <a:p>
                      <a:pPr>
                        <a:defRPr sz="1100" b="1">
                          <a:solidFill>
                            <a:srgbClr val="0F172A"/>
                          </a:solidFill>
                          <a:latin typeface="Aptos"/>
                        </a:defRPr>
                      </a:pPr>
                      <a:r>
                        <a:t>Human prediction</a:t>
                      </a:r>
                    </a:p>
                  </a:txBody>
                  <a:tcPr>
                    <a:solidFill>
                      <a:srgbClr val="DBEAFE"/>
                    </a:solidFill>
                  </a:tcPr>
                </a:tc>
                <a:tc>
                  <a:txBody>
                    <a:bodyPr/>
                    <a:lstStyle/>
                    <a:p>
                      <a:pPr>
                        <a:defRPr sz="1100" b="1">
                          <a:solidFill>
                            <a:srgbClr val="0F172A"/>
                          </a:solidFill>
                          <a:latin typeface="Aptos"/>
                        </a:defRPr>
                      </a:pPr>
                      <a:r>
                        <a:t>Robot counter</a:t>
                      </a:r>
                    </a:p>
                  </a:txBody>
                  <a:tcPr>
                    <a:solidFill>
                      <a:srgbClr val="DBEAFE"/>
                    </a:solidFill>
                  </a:tcPr>
                </a:tc>
                <a:tc>
                  <a:txBody>
                    <a:bodyPr/>
                    <a:lstStyle/>
                    <a:p>
                      <a:pPr>
                        <a:defRPr sz="1100" b="1">
                          <a:solidFill>
                            <a:srgbClr val="0F172A"/>
                          </a:solidFill>
                          <a:latin typeface="Aptos"/>
                        </a:defRPr>
                      </a:pPr>
                      <a:r>
                        <a:t>Outcome</a:t>
                      </a:r>
                    </a:p>
                  </a:txBody>
                  <a:tcPr>
                    <a:solidFill>
                      <a:srgbClr val="DBEAFE"/>
                    </a:solidFill>
                  </a:tcPr>
                </a:tc>
              </a:tr>
              <a:tr h="582930">
                <a:tc>
                  <a:txBody>
                    <a:bodyPr/>
                    <a:lstStyle/>
                    <a:p>
                      <a:pPr>
                        <a:defRPr sz="1000" b="0">
                          <a:solidFill>
                            <a:srgbClr val="0F172A"/>
                          </a:solidFill>
                          <a:latin typeface="Aptos"/>
                        </a:defRPr>
                      </a:pPr>
                      <a:r>
                        <a:t>rock</a:t>
                      </a:r>
                    </a:p>
                  </a:txBody>
                  <a:tcPr>
                    <a:solidFill>
                      <a:srgbClr val="FFFFFF"/>
                    </a:solidFill>
                  </a:tcPr>
                </a:tc>
                <a:tc>
                  <a:txBody>
                    <a:bodyPr/>
                    <a:lstStyle/>
                    <a:p>
                      <a:pPr>
                        <a:defRPr sz="1000" b="0">
                          <a:solidFill>
                            <a:srgbClr val="0F172A"/>
                          </a:solidFill>
                          <a:latin typeface="Aptos"/>
                        </a:defRPr>
                      </a:pPr>
                      <a:r>
                        <a:t>paper</a:t>
                      </a:r>
                    </a:p>
                  </a:txBody>
                  <a:tcPr>
                    <a:solidFill>
                      <a:srgbClr val="FFFFFF"/>
                    </a:solidFill>
                  </a:tcPr>
                </a:tc>
                <a:tc>
                  <a:txBody>
                    <a:bodyPr/>
                    <a:lstStyle/>
                    <a:p>
                      <a:pPr>
                        <a:defRPr sz="1000" b="0">
                          <a:solidFill>
                            <a:srgbClr val="0F172A"/>
                          </a:solidFill>
                          <a:latin typeface="Aptos"/>
                        </a:defRPr>
                      </a:pPr>
                      <a:r>
                        <a:t>robot wins</a:t>
                      </a:r>
                    </a:p>
                  </a:txBody>
                  <a:tcPr>
                    <a:solidFill>
                      <a:srgbClr val="FFFFFF"/>
                    </a:solidFill>
                  </a:tcPr>
                </a:tc>
              </a:tr>
              <a:tr h="582930">
                <a:tc>
                  <a:txBody>
                    <a:bodyPr/>
                    <a:lstStyle/>
                    <a:p>
                      <a:pPr>
                        <a:defRPr sz="1000" b="0">
                          <a:solidFill>
                            <a:srgbClr val="0F172A"/>
                          </a:solidFill>
                          <a:latin typeface="Aptos"/>
                        </a:defRPr>
                      </a:pPr>
                      <a:r>
                        <a:t>paper</a:t>
                      </a:r>
                    </a:p>
                  </a:txBody>
                  <a:tcPr>
                    <a:solidFill>
                      <a:srgbClr val="FFFFFF"/>
                    </a:solidFill>
                  </a:tcPr>
                </a:tc>
                <a:tc>
                  <a:txBody>
                    <a:bodyPr/>
                    <a:lstStyle/>
                    <a:p>
                      <a:pPr>
                        <a:defRPr sz="1000" b="0">
                          <a:solidFill>
                            <a:srgbClr val="0F172A"/>
                          </a:solidFill>
                          <a:latin typeface="Aptos"/>
                        </a:defRPr>
                      </a:pPr>
                      <a:r>
                        <a:t>scissors</a:t>
                      </a:r>
                    </a:p>
                  </a:txBody>
                  <a:tcPr>
                    <a:solidFill>
                      <a:srgbClr val="FFFFFF"/>
                    </a:solidFill>
                  </a:tcPr>
                </a:tc>
                <a:tc>
                  <a:txBody>
                    <a:bodyPr/>
                    <a:lstStyle/>
                    <a:p>
                      <a:pPr>
                        <a:defRPr sz="1000" b="0">
                          <a:solidFill>
                            <a:srgbClr val="0F172A"/>
                          </a:solidFill>
                          <a:latin typeface="Aptos"/>
                        </a:defRPr>
                      </a:pPr>
                      <a:r>
                        <a:t>robot wins</a:t>
                      </a:r>
                    </a:p>
                  </a:txBody>
                  <a:tcPr>
                    <a:solidFill>
                      <a:srgbClr val="FFFFFF"/>
                    </a:solidFill>
                  </a:tcPr>
                </a:tc>
              </a:tr>
              <a:tr h="582930">
                <a:tc>
                  <a:txBody>
                    <a:bodyPr/>
                    <a:lstStyle/>
                    <a:p>
                      <a:pPr>
                        <a:defRPr sz="1000" b="0">
                          <a:solidFill>
                            <a:srgbClr val="0F172A"/>
                          </a:solidFill>
                          <a:latin typeface="Aptos"/>
                        </a:defRPr>
                      </a:pPr>
                      <a:r>
                        <a:t>scissors</a:t>
                      </a:r>
                    </a:p>
                  </a:txBody>
                  <a:tcPr>
                    <a:solidFill>
                      <a:srgbClr val="FFFFFF"/>
                    </a:solidFill>
                  </a:tcPr>
                </a:tc>
                <a:tc>
                  <a:txBody>
                    <a:bodyPr/>
                    <a:lstStyle/>
                    <a:p>
                      <a:pPr>
                        <a:defRPr sz="1000" b="0">
                          <a:solidFill>
                            <a:srgbClr val="0F172A"/>
                          </a:solidFill>
                          <a:latin typeface="Aptos"/>
                        </a:defRPr>
                      </a:pPr>
                      <a:r>
                        <a:t>rock</a:t>
                      </a:r>
                    </a:p>
                  </a:txBody>
                  <a:tcPr>
                    <a:solidFill>
                      <a:srgbClr val="FFFFFF"/>
                    </a:solidFill>
                  </a:tcPr>
                </a:tc>
                <a:tc>
                  <a:txBody>
                    <a:bodyPr/>
                    <a:lstStyle/>
                    <a:p>
                      <a:pPr>
                        <a:defRPr sz="1000" b="0">
                          <a:solidFill>
                            <a:srgbClr val="0F172A"/>
                          </a:solidFill>
                          <a:latin typeface="Aptos"/>
                        </a:defRPr>
                      </a:pPr>
                      <a:r>
                        <a:t>robot wins</a:t>
                      </a:r>
                    </a:p>
                  </a:txBody>
                  <a:tcPr>
                    <a:solidFill>
                      <a:srgbClr val="FFFFFF"/>
                    </a:solidFill>
                  </a:tcPr>
                </a:tc>
              </a:tr>
            </a:tbl>
          </a:graphicData>
        </a:graphic>
      </p:graphicFrame>
      <p:sp>
        <p:nvSpPr>
          <p:cNvPr id="6" name="Rounded Rectangle 5"/>
          <p:cNvSpPr/>
          <p:nvPr/>
        </p:nvSpPr>
        <p:spPr>
          <a:xfrm>
            <a:off x="5989320" y="1188720"/>
            <a:ext cx="1691640" cy="2011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6099048" y="1725644"/>
            <a:ext cx="1472184" cy="828103"/>
          </a:xfrm>
          <a:prstGeom prst="rect">
            <a:avLst/>
          </a:prstGeom>
        </p:spPr>
      </p:pic>
      <p:sp>
        <p:nvSpPr>
          <p:cNvPr id="8" name="TextBox 7"/>
          <p:cNvSpPr txBox="1"/>
          <p:nvPr/>
        </p:nvSpPr>
        <p:spPr>
          <a:xfrm>
            <a:off x="6135624" y="2971800"/>
            <a:ext cx="1399032" cy="164592"/>
          </a:xfrm>
          <a:prstGeom prst="rect">
            <a:avLst/>
          </a:prstGeom>
          <a:noFill/>
        </p:spPr>
        <p:txBody>
          <a:bodyPr wrap="none" lIns="18288" rIns="18288" tIns="18288" bIns="18288" anchor="t">
            <a:spAutoFit/>
          </a:bodyPr>
          <a:lstStyle/>
          <a:p>
            <a:pPr algn="ctr"/>
            <a:r>
              <a:rPr sz="800" b="0">
                <a:solidFill>
                  <a:srgbClr val="64748B"/>
                </a:solidFill>
                <a:latin typeface="Aptos Display"/>
              </a:rPr>
              <a:t>rock</a:t>
            </a:r>
          </a:p>
        </p:txBody>
      </p:sp>
      <p:sp>
        <p:nvSpPr>
          <p:cNvPr id="9" name="Right Arrow 8"/>
          <p:cNvSpPr/>
          <p:nvPr/>
        </p:nvSpPr>
        <p:spPr>
          <a:xfrm>
            <a:off x="7772400" y="1874519"/>
            <a:ext cx="502920" cy="292608"/>
          </a:xfrm>
          <a:prstGeom prst="rightArrow">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339327" y="1188720"/>
            <a:ext cx="1691640" cy="2011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8449055" y="1725644"/>
            <a:ext cx="1472184" cy="828103"/>
          </a:xfrm>
          <a:prstGeom prst="rect">
            <a:avLst/>
          </a:prstGeom>
        </p:spPr>
      </p:pic>
      <p:sp>
        <p:nvSpPr>
          <p:cNvPr id="12" name="TextBox 11"/>
          <p:cNvSpPr txBox="1"/>
          <p:nvPr/>
        </p:nvSpPr>
        <p:spPr>
          <a:xfrm>
            <a:off x="8485632" y="2971800"/>
            <a:ext cx="1399032" cy="164592"/>
          </a:xfrm>
          <a:prstGeom prst="rect">
            <a:avLst/>
          </a:prstGeom>
          <a:noFill/>
        </p:spPr>
        <p:txBody>
          <a:bodyPr wrap="none" lIns="18288" rIns="18288" tIns="18288" bIns="18288" anchor="t">
            <a:spAutoFit/>
          </a:bodyPr>
          <a:lstStyle/>
          <a:p>
            <a:pPr algn="ctr"/>
            <a:r>
              <a:rPr sz="800" b="0">
                <a:solidFill>
                  <a:srgbClr val="64748B"/>
                </a:solidFill>
                <a:latin typeface="Aptos Display"/>
              </a:rPr>
              <a:t>paper</a:t>
            </a:r>
          </a:p>
        </p:txBody>
      </p:sp>
      <p:sp>
        <p:nvSpPr>
          <p:cNvPr id="13" name="Right Arrow 12"/>
          <p:cNvSpPr/>
          <p:nvPr/>
        </p:nvSpPr>
        <p:spPr>
          <a:xfrm>
            <a:off x="7772400" y="4251960"/>
            <a:ext cx="502920" cy="292608"/>
          </a:xfrm>
          <a:prstGeom prst="rightArrow">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339327" y="3566160"/>
            <a:ext cx="1691640" cy="2011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4"/>
          <a:stretch>
            <a:fillRect/>
          </a:stretch>
        </p:blipFill>
        <p:spPr>
          <a:xfrm>
            <a:off x="8449055" y="4103083"/>
            <a:ext cx="1472184" cy="828103"/>
          </a:xfrm>
          <a:prstGeom prst="rect">
            <a:avLst/>
          </a:prstGeom>
        </p:spPr>
      </p:pic>
      <p:sp>
        <p:nvSpPr>
          <p:cNvPr id="16" name="TextBox 15"/>
          <p:cNvSpPr txBox="1"/>
          <p:nvPr/>
        </p:nvSpPr>
        <p:spPr>
          <a:xfrm>
            <a:off x="8485632" y="5349240"/>
            <a:ext cx="1399032" cy="164592"/>
          </a:xfrm>
          <a:prstGeom prst="rect">
            <a:avLst/>
          </a:prstGeom>
          <a:noFill/>
        </p:spPr>
        <p:txBody>
          <a:bodyPr wrap="none" lIns="18288" rIns="18288" tIns="18288" bIns="18288" anchor="t">
            <a:spAutoFit/>
          </a:bodyPr>
          <a:lstStyle/>
          <a:p>
            <a:pPr algn="ctr"/>
            <a:r>
              <a:rPr sz="800" b="0">
                <a:solidFill>
                  <a:srgbClr val="64748B"/>
                </a:solidFill>
                <a:latin typeface="Aptos Display"/>
              </a:rPr>
              <a:t>scissors</a:t>
            </a:r>
          </a:p>
        </p:txBody>
      </p:sp>
      <p:sp>
        <p:nvSpPr>
          <p:cNvPr id="17" name="TextBox 16"/>
          <p:cNvSpPr txBox="1"/>
          <p:nvPr/>
        </p:nvSpPr>
        <p:spPr>
          <a:xfrm>
            <a:off x="868680" y="4343400"/>
            <a:ext cx="4709160" cy="713232"/>
          </a:xfrm>
          <a:prstGeom prst="rect">
            <a:avLst/>
          </a:prstGeom>
          <a:noFill/>
        </p:spPr>
        <p:txBody>
          <a:bodyPr wrap="none" lIns="18288" rIns="18288" tIns="18288" bIns="18288" anchor="t">
            <a:spAutoFit/>
          </a:bodyPr>
          <a:lstStyle/>
          <a:p>
            <a:pPr algn="l"/>
            <a:r>
              <a:rPr sz="2100" b="1">
                <a:solidFill>
                  <a:srgbClr val="0F172A"/>
                </a:solidFill>
                <a:latin typeface="Aptos Display"/>
              </a:rPr>
              <a:t>Wait states map to robot rock; no counter move is issued until a response-window prediction is confirmed.</a:t>
            </a:r>
          </a:p>
        </p:txBody>
      </p:sp>
      <p:sp>
        <p:nvSpPr>
          <p:cNvPr id="18" name="TextBox 17"/>
          <p:cNvSpPr txBox="1"/>
          <p:nvPr/>
        </p:nvSpPr>
        <p:spPr>
          <a:xfrm>
            <a:off x="566928" y="6473952"/>
            <a:ext cx="2743200" cy="201168"/>
          </a:xfrm>
          <a:prstGeom prst="rect">
            <a:avLst/>
          </a:prstGeom>
          <a:noFill/>
        </p:spPr>
        <p:txBody>
          <a:bodyPr wrap="none" lIns="18288" rIns="18288" tIns="18288" bIns="18288" anchor="t">
            <a:spAutoFit/>
          </a:bodyPr>
          <a:lstStyle/>
          <a:p>
            <a:pPr algn="l"/>
            <a:r>
              <a:rPr sz="900" b="0">
                <a:solidFill>
                  <a:srgbClr val="64748B"/>
                </a:solidFill>
                <a:latin typeface="Aptos Display"/>
              </a:rPr>
              <a:t>Embodied AI Final Project</a:t>
            </a:r>
          </a:p>
        </p:txBody>
      </p:sp>
      <p:sp>
        <p:nvSpPr>
          <p:cNvPr id="19" name="TextBox 18"/>
          <p:cNvSpPr txBox="1"/>
          <p:nvPr/>
        </p:nvSpPr>
        <p:spPr>
          <a:xfrm>
            <a:off x="11430000" y="6473952"/>
            <a:ext cx="384048" cy="201168"/>
          </a:xfrm>
          <a:prstGeom prst="rect">
            <a:avLst/>
          </a:prstGeom>
          <a:noFill/>
        </p:spPr>
        <p:txBody>
          <a:bodyPr wrap="none" lIns="18288" rIns="18288" tIns="18288" bIns="18288" anchor="t">
            <a:spAutoFit/>
          </a:bodyPr>
          <a:lstStyle/>
          <a:p>
            <a:pPr algn="r"/>
            <a:r>
              <a:rPr sz="900" b="0">
                <a:solidFill>
                  <a:srgbClr val="64748B"/>
                </a:solidFill>
                <a:latin typeface="Aptos Display"/>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47472"/>
            <a:ext cx="7772400" cy="530352"/>
          </a:xfrm>
          <a:prstGeom prst="rect">
            <a:avLst/>
          </a:prstGeom>
          <a:noFill/>
        </p:spPr>
        <p:txBody>
          <a:bodyPr wrap="none" lIns="18288" rIns="18288" tIns="18288" bIns="18288" anchor="t">
            <a:spAutoFit/>
          </a:bodyPr>
          <a:lstStyle/>
          <a:p>
            <a:pPr algn="l"/>
            <a:r>
              <a:rPr sz="3000" b="1">
                <a:solidFill>
                  <a:srgbClr val="0F172A"/>
                </a:solidFill>
                <a:latin typeface="Aptos Display"/>
              </a:rPr>
              <a:t>Actuator timing model</a:t>
            </a:r>
          </a:p>
        </p:txBody>
      </p:sp>
      <p:sp>
        <p:nvSpPr>
          <p:cNvPr id="3" name="TextBox 2"/>
          <p:cNvSpPr txBox="1"/>
          <p:nvPr/>
        </p:nvSpPr>
        <p:spPr>
          <a:xfrm>
            <a:off x="585216" y="877824"/>
            <a:ext cx="7955279" cy="310896"/>
          </a:xfrm>
          <a:prstGeom prst="rect">
            <a:avLst/>
          </a:prstGeom>
          <a:noFill/>
        </p:spPr>
        <p:txBody>
          <a:bodyPr wrap="none" lIns="18288" rIns="18288" tIns="18288" bIns="18288" anchor="t">
            <a:spAutoFit/>
          </a:bodyPr>
          <a:lstStyle/>
          <a:p>
            <a:pPr algn="l"/>
            <a:r>
              <a:rPr sz="1300" b="0">
                <a:solidFill>
                  <a:srgbClr val="64748B"/>
                </a:solidFill>
                <a:latin typeface="Aptos Display"/>
              </a:rPr>
              <a:t>A correct prediction is accepted only if the robot can still move in time.</a:t>
            </a:r>
          </a:p>
        </p:txBody>
      </p:sp>
      <p:sp>
        <p:nvSpPr>
          <p:cNvPr id="4" name="Rounded Rectangle 3"/>
          <p:cNvSpPr/>
          <p:nvPr/>
        </p:nvSpPr>
        <p:spPr>
          <a:xfrm>
            <a:off x="9619488" y="384048"/>
            <a:ext cx="2011680" cy="310896"/>
          </a:xfrm>
          <a:prstGeom prst="roundRect">
            <a:avLst/>
          </a:prstGeom>
          <a:solidFill>
            <a:srgbClr val="E0F2FE"/>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73152" rIns="73152" tIns="27432" bIns="27432"/>
          <a:lstStyle/>
          <a:p>
            <a:pPr algn="ctr"/>
            <a:r>
              <a:rPr sz="1000" b="1">
                <a:solidFill>
                  <a:srgbClr val="075985"/>
                </a:solidFill>
                <a:latin typeface="Aptos"/>
              </a:rPr>
              <a:t>MinKyu</a:t>
            </a:r>
          </a:p>
        </p:txBody>
      </p:sp>
      <p:sp>
        <p:nvSpPr>
          <p:cNvPr id="5" name="Rounded Rectangle 4"/>
          <p:cNvSpPr/>
          <p:nvPr/>
        </p:nvSpPr>
        <p:spPr>
          <a:xfrm>
            <a:off x="822960" y="1143000"/>
            <a:ext cx="6949440" cy="29718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932688" y="1475189"/>
            <a:ext cx="6729983" cy="2307422"/>
          </a:xfrm>
          <a:prstGeom prst="rect">
            <a:avLst/>
          </a:prstGeom>
        </p:spPr>
      </p:pic>
      <p:sp>
        <p:nvSpPr>
          <p:cNvPr id="7" name="Rounded Rectangle 6"/>
          <p:cNvSpPr/>
          <p:nvPr/>
        </p:nvSpPr>
        <p:spPr>
          <a:xfrm>
            <a:off x="8092440" y="1216152"/>
            <a:ext cx="3154680" cy="2788920"/>
          </a:xfrm>
          <a:prstGeom prst="roundRect">
            <a:avLst/>
          </a:prstGeom>
          <a:solidFill>
            <a:srgbClr val="FFF7ED"/>
          </a:solidFill>
          <a:ln w="12700">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66760" y="1481328"/>
            <a:ext cx="2194560" cy="292608"/>
          </a:xfrm>
          <a:prstGeom prst="rect">
            <a:avLst/>
          </a:prstGeom>
          <a:noFill/>
        </p:spPr>
        <p:txBody>
          <a:bodyPr wrap="none" lIns="18288" rIns="18288" tIns="18288" bIns="18288" anchor="t">
            <a:spAutoFit/>
          </a:bodyPr>
          <a:lstStyle/>
          <a:p>
            <a:pPr algn="l"/>
            <a:r>
              <a:rPr sz="2200" b="1">
                <a:solidFill>
                  <a:srgbClr val="B45309"/>
                </a:solidFill>
                <a:latin typeface="Aptos Display"/>
              </a:rPr>
              <a:t>Feasibility rule</a:t>
            </a:r>
          </a:p>
        </p:txBody>
      </p:sp>
      <p:sp>
        <p:nvSpPr>
          <p:cNvPr id="9" name="TextBox 8"/>
          <p:cNvSpPr txBox="1"/>
          <p:nvPr/>
        </p:nvSpPr>
        <p:spPr>
          <a:xfrm>
            <a:off x="8375904" y="1965960"/>
            <a:ext cx="2514600" cy="1444752"/>
          </a:xfrm>
          <a:prstGeom prst="rect">
            <a:avLst/>
          </a:prstGeom>
          <a:noFill/>
        </p:spPr>
        <p:txBody>
          <a:bodyPr wrap="none" lIns="36576" rIns="36576" tIns="18288" bIns="18288">
            <a:spAutoFit/>
          </a:bodyPr>
          <a:lstStyle/>
          <a:p>
            <a:pPr>
              <a:spcAft>
                <a:spcPts val="700"/>
              </a:spcAft>
              <a:defRPr sz="1600">
                <a:solidFill>
                  <a:srgbClr val="0F172A"/>
                </a:solidFill>
                <a:latin typeface="Aptos"/>
              </a:defRPr>
            </a:pPr>
            <a:r>
              <a:t>response delay = 0.08 s</a:t>
            </a:r>
          </a:p>
          <a:p>
            <a:pPr>
              <a:spcAft>
                <a:spcPts val="700"/>
              </a:spcAft>
              <a:defRPr sz="1600">
                <a:solidFill>
                  <a:srgbClr val="0F172A"/>
                </a:solidFill>
                <a:latin typeface="Aptos"/>
              </a:defRPr>
            </a:pPr>
            <a:r>
              <a:t>deadline = 0.50 s</a:t>
            </a:r>
          </a:p>
          <a:p>
            <a:pPr>
              <a:spcAft>
                <a:spcPts val="700"/>
              </a:spcAft>
              <a:defRPr sz="1600">
                <a:solidFill>
                  <a:srgbClr val="0F172A"/>
                </a:solidFill>
                <a:latin typeface="Aptos"/>
              </a:defRPr>
            </a:pPr>
            <a:r>
              <a:t>required time = 0.413 s</a:t>
            </a:r>
          </a:p>
          <a:p>
            <a:pPr>
              <a:spcAft>
                <a:spcPts val="700"/>
              </a:spcAft>
              <a:defRPr sz="1600">
                <a:solidFill>
                  <a:srgbClr val="0F172A"/>
                </a:solidFill>
                <a:latin typeface="Aptos"/>
              </a:defRPr>
            </a:pPr>
            <a:r>
              <a:t>remaining time = 0.467 s</a:t>
            </a:r>
          </a:p>
          <a:p>
            <a:pPr>
              <a:spcAft>
                <a:spcPts val="700"/>
              </a:spcAft>
              <a:defRPr sz="1600">
                <a:solidFill>
                  <a:srgbClr val="0F172A"/>
                </a:solidFill>
                <a:latin typeface="Aptos"/>
              </a:defRPr>
            </a:pPr>
            <a:r>
              <a:t>limiting joint = index_curl</a:t>
            </a:r>
          </a:p>
        </p:txBody>
      </p:sp>
      <p:sp>
        <p:nvSpPr>
          <p:cNvPr id="10" name="TextBox 9"/>
          <p:cNvSpPr txBox="1"/>
          <p:nvPr/>
        </p:nvSpPr>
        <p:spPr>
          <a:xfrm>
            <a:off x="960120" y="4709160"/>
            <a:ext cx="9966960" cy="621792"/>
          </a:xfrm>
          <a:prstGeom prst="rect">
            <a:avLst/>
          </a:prstGeom>
          <a:noFill/>
        </p:spPr>
        <p:txBody>
          <a:bodyPr wrap="none" lIns="18288" rIns="18288" tIns="18288" bIns="18288" anchor="t">
            <a:spAutoFit/>
          </a:bodyPr>
          <a:lstStyle/>
          <a:p>
            <a:pPr algn="ctr"/>
            <a:r>
              <a:rPr sz="2200" b="1">
                <a:solidFill>
                  <a:srgbClr val="0F172A"/>
                </a:solidFill>
                <a:latin typeface="Aptos Display"/>
              </a:rPr>
              <a:t>Measured timing is local desktop end-to-end timing: camera + MediaPipe + features + PyTorch/CUDA + output.</a:t>
            </a:r>
          </a:p>
        </p:txBody>
      </p:sp>
      <p:sp>
        <p:nvSpPr>
          <p:cNvPr id="11" name="TextBox 10"/>
          <p:cNvSpPr txBox="1"/>
          <p:nvPr/>
        </p:nvSpPr>
        <p:spPr>
          <a:xfrm>
            <a:off x="566928" y="6473952"/>
            <a:ext cx="2743200" cy="201168"/>
          </a:xfrm>
          <a:prstGeom prst="rect">
            <a:avLst/>
          </a:prstGeom>
          <a:noFill/>
        </p:spPr>
        <p:txBody>
          <a:bodyPr wrap="none" lIns="18288" rIns="18288" tIns="18288" bIns="18288" anchor="t">
            <a:spAutoFit/>
          </a:bodyPr>
          <a:lstStyle/>
          <a:p>
            <a:pPr algn="l"/>
            <a:r>
              <a:rPr sz="900" b="0">
                <a:solidFill>
                  <a:srgbClr val="64748B"/>
                </a:solidFill>
                <a:latin typeface="Aptos Display"/>
              </a:rPr>
              <a:t>Embodied AI Final Project</a:t>
            </a:r>
          </a:p>
        </p:txBody>
      </p:sp>
      <p:sp>
        <p:nvSpPr>
          <p:cNvPr id="12" name="TextBox 11"/>
          <p:cNvSpPr txBox="1"/>
          <p:nvPr/>
        </p:nvSpPr>
        <p:spPr>
          <a:xfrm>
            <a:off x="11430000" y="6473952"/>
            <a:ext cx="384048" cy="201168"/>
          </a:xfrm>
          <a:prstGeom prst="rect">
            <a:avLst/>
          </a:prstGeom>
          <a:noFill/>
        </p:spPr>
        <p:txBody>
          <a:bodyPr wrap="none" lIns="18288" rIns="18288" tIns="18288" bIns="18288" anchor="t">
            <a:spAutoFit/>
          </a:bodyPr>
          <a:lstStyle/>
          <a:p>
            <a:pPr algn="r"/>
            <a:r>
              <a:rPr sz="900" b="0">
                <a:solidFill>
                  <a:srgbClr val="64748B"/>
                </a:solidFill>
                <a:latin typeface="Aptos Display"/>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47472"/>
            <a:ext cx="7772400" cy="530352"/>
          </a:xfrm>
          <a:prstGeom prst="rect">
            <a:avLst/>
          </a:prstGeom>
          <a:noFill/>
        </p:spPr>
        <p:txBody>
          <a:bodyPr wrap="none" lIns="18288" rIns="18288" tIns="18288" bIns="18288" anchor="t">
            <a:spAutoFit/>
          </a:bodyPr>
          <a:lstStyle/>
          <a:p>
            <a:pPr algn="l"/>
            <a:r>
              <a:rPr sz="3000" b="1">
                <a:solidFill>
                  <a:srgbClr val="0F172A"/>
                </a:solidFill>
                <a:latin typeface="Aptos Display"/>
              </a:rPr>
              <a:t>Final live demo: human rock -&gt; robot paper</a:t>
            </a:r>
          </a:p>
        </p:txBody>
      </p:sp>
      <p:sp>
        <p:nvSpPr>
          <p:cNvPr id="3" name="TextBox 2"/>
          <p:cNvSpPr txBox="1"/>
          <p:nvPr/>
        </p:nvSpPr>
        <p:spPr>
          <a:xfrm>
            <a:off x="585216" y="877824"/>
            <a:ext cx="7955279" cy="310896"/>
          </a:xfrm>
          <a:prstGeom prst="rect">
            <a:avLst/>
          </a:prstGeom>
          <a:noFill/>
        </p:spPr>
        <p:txBody>
          <a:bodyPr wrap="none" lIns="18288" rIns="18288" tIns="18288" bIns="18288" anchor="t">
            <a:spAutoFit/>
          </a:bodyPr>
          <a:lstStyle/>
          <a:p>
            <a:pPr algn="l"/>
            <a:r>
              <a:rPr sz="1300" b="0">
                <a:solidFill>
                  <a:srgbClr val="64748B"/>
                </a:solidFill>
                <a:latin typeface="Aptos Display"/>
              </a:rPr>
              <a:t>One selected live take passed the full actuator-feasible counterattack gate.</a:t>
            </a:r>
          </a:p>
        </p:txBody>
      </p:sp>
      <p:sp>
        <p:nvSpPr>
          <p:cNvPr id="4" name="Rounded Rectangle 3"/>
          <p:cNvSpPr/>
          <p:nvPr/>
        </p:nvSpPr>
        <p:spPr>
          <a:xfrm>
            <a:off x="9619488" y="384048"/>
            <a:ext cx="2011680" cy="310896"/>
          </a:xfrm>
          <a:prstGeom prst="roundRect">
            <a:avLst/>
          </a:prstGeom>
          <a:solidFill>
            <a:srgbClr val="E0F2FE"/>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73152" rIns="73152" tIns="27432" bIns="27432"/>
          <a:lstStyle/>
          <a:p>
            <a:pPr algn="ctr"/>
            <a:r>
              <a:rPr sz="1000" b="1">
                <a:solidFill>
                  <a:srgbClr val="075985"/>
                </a:solidFill>
                <a:latin typeface="Aptos"/>
              </a:rPr>
              <a:t>MinKyu</a:t>
            </a:r>
          </a:p>
        </p:txBody>
      </p:sp>
      <p:sp>
        <p:nvSpPr>
          <p:cNvPr id="5" name="Rounded Rectangle 4"/>
          <p:cNvSpPr/>
          <p:nvPr/>
        </p:nvSpPr>
        <p:spPr>
          <a:xfrm>
            <a:off x="749808" y="1115568"/>
            <a:ext cx="6583680" cy="43434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859536" y="1442464"/>
            <a:ext cx="6364224" cy="3579876"/>
          </a:xfrm>
          <a:prstGeom prst="rect">
            <a:avLst/>
          </a:prstGeom>
        </p:spPr>
      </p:pic>
      <p:sp>
        <p:nvSpPr>
          <p:cNvPr id="7" name="TextBox 6"/>
          <p:cNvSpPr txBox="1"/>
          <p:nvPr/>
        </p:nvSpPr>
        <p:spPr>
          <a:xfrm>
            <a:off x="896112" y="5230368"/>
            <a:ext cx="6291072" cy="164592"/>
          </a:xfrm>
          <a:prstGeom prst="rect">
            <a:avLst/>
          </a:prstGeom>
          <a:noFill/>
        </p:spPr>
        <p:txBody>
          <a:bodyPr wrap="none" lIns="18288" rIns="18288" tIns="18288" bIns="18288" anchor="t">
            <a:spAutoFit/>
          </a:bodyPr>
          <a:lstStyle/>
          <a:p>
            <a:pPr algn="ctr"/>
            <a:r>
              <a:rPr sz="800" b="0">
                <a:solidFill>
                  <a:srgbClr val="64748B"/>
                </a:solidFill>
                <a:latin typeface="Aptos Display"/>
              </a:rPr>
              <a:t>Final selected live take poster frame</a:t>
            </a:r>
          </a:p>
        </p:txBody>
      </p:sp>
      <p:sp>
        <p:nvSpPr>
          <p:cNvPr id="8" name="Rounded Rectangle 7"/>
          <p:cNvSpPr/>
          <p:nvPr/>
        </p:nvSpPr>
        <p:spPr>
          <a:xfrm>
            <a:off x="7699248" y="1234440"/>
            <a:ext cx="3520440" cy="3429000"/>
          </a:xfrm>
          <a:prstGeom prst="roundRect">
            <a:avLst/>
          </a:prstGeom>
          <a:solidFill>
            <a:srgbClr val="ECFDF5"/>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1000" y="1508760"/>
            <a:ext cx="2194560" cy="320040"/>
          </a:xfrm>
          <a:prstGeom prst="rect">
            <a:avLst/>
          </a:prstGeom>
          <a:noFill/>
        </p:spPr>
        <p:txBody>
          <a:bodyPr wrap="none" lIns="18288" rIns="18288" tIns="18288" bIns="18288" anchor="t">
            <a:spAutoFit/>
          </a:bodyPr>
          <a:lstStyle/>
          <a:p>
            <a:pPr algn="l"/>
            <a:r>
              <a:rPr sz="2200" b="1">
                <a:solidFill>
                  <a:srgbClr val="15803D"/>
                </a:solidFill>
                <a:latin typeface="Aptos Display"/>
              </a:rPr>
              <a:t>Selected take</a:t>
            </a:r>
          </a:p>
        </p:txBody>
      </p:sp>
      <p:sp>
        <p:nvSpPr>
          <p:cNvPr id="10" name="TextBox 9"/>
          <p:cNvSpPr txBox="1"/>
          <p:nvPr/>
        </p:nvSpPr>
        <p:spPr>
          <a:xfrm>
            <a:off x="8028431" y="1938528"/>
            <a:ext cx="2743200" cy="1828800"/>
          </a:xfrm>
          <a:prstGeom prst="rect">
            <a:avLst/>
          </a:prstGeom>
          <a:noFill/>
        </p:spPr>
        <p:txBody>
          <a:bodyPr wrap="none" lIns="36576" rIns="36576" tIns="18288" bIns="18288">
            <a:spAutoFit/>
          </a:bodyPr>
          <a:lstStyle/>
          <a:p>
            <a:pPr>
              <a:spcAft>
                <a:spcPts val="700"/>
              </a:spcAft>
              <a:defRPr sz="1700">
                <a:solidFill>
                  <a:srgbClr val="0F172A"/>
                </a:solidFill>
                <a:latin typeface="Aptos"/>
              </a:defRPr>
            </a:pPr>
            <a:r>
              <a:t>human target: rock</a:t>
            </a:r>
          </a:p>
          <a:p>
            <a:pPr>
              <a:spcAft>
                <a:spcPts val="700"/>
              </a:spcAft>
              <a:defRPr sz="1700">
                <a:solidFill>
                  <a:srgbClr val="0F172A"/>
                </a:solidFill>
                <a:latin typeface="Aptos"/>
              </a:defRPr>
            </a:pPr>
            <a:r>
              <a:t>robot counter: paper</a:t>
            </a:r>
          </a:p>
          <a:p>
            <a:pPr>
              <a:spcAft>
                <a:spcPts val="700"/>
              </a:spcAft>
              <a:defRPr sz="1700">
                <a:solidFill>
                  <a:srgbClr val="0F172A"/>
                </a:solidFill>
                <a:latin typeface="Aptos"/>
              </a:defRPr>
            </a:pPr>
            <a:r>
              <a:t>prediction: rock</a:t>
            </a:r>
          </a:p>
          <a:p>
            <a:pPr>
              <a:spcAft>
                <a:spcPts val="700"/>
              </a:spcAft>
              <a:defRPr sz="1700">
                <a:solidFill>
                  <a:srgbClr val="0F172A"/>
                </a:solidFill>
                <a:latin typeface="Aptos"/>
              </a:defRPr>
            </a:pPr>
            <a:r>
              <a:t>confidence: 0.77</a:t>
            </a:r>
          </a:p>
          <a:p>
            <a:pPr>
              <a:spcAft>
                <a:spcPts val="700"/>
              </a:spcAft>
              <a:defRPr sz="1700">
                <a:solidFill>
                  <a:srgbClr val="0F172A"/>
                </a:solidFill>
                <a:latin typeface="Aptos"/>
              </a:defRPr>
            </a:pPr>
            <a:r>
              <a:t>remaining time: 0.467 s</a:t>
            </a:r>
          </a:p>
          <a:p>
            <a:pPr>
              <a:spcAft>
                <a:spcPts val="700"/>
              </a:spcAft>
              <a:defRPr sz="1700">
                <a:solidFill>
                  <a:srgbClr val="0F172A"/>
                </a:solidFill>
                <a:latin typeface="Aptos"/>
              </a:defRPr>
            </a:pPr>
            <a:r>
              <a:t>result: actuator-feasible win</a:t>
            </a:r>
          </a:p>
        </p:txBody>
      </p:sp>
      <p:sp>
        <p:nvSpPr>
          <p:cNvPr id="11" name="TextBox 10"/>
          <p:cNvSpPr txBox="1"/>
          <p:nvPr/>
        </p:nvSpPr>
        <p:spPr>
          <a:xfrm>
            <a:off x="7863840" y="4919472"/>
            <a:ext cx="3200400" cy="320040"/>
          </a:xfrm>
          <a:prstGeom prst="rect">
            <a:avLst/>
          </a:prstGeom>
          <a:noFill/>
        </p:spPr>
        <p:txBody>
          <a:bodyPr wrap="none" lIns="18288" rIns="18288" tIns="18288" bIns="18288" anchor="t">
            <a:spAutoFit/>
          </a:bodyPr>
          <a:lstStyle/>
          <a:p>
            <a:pPr algn="ctr"/>
            <a:r>
              <a:rPr sz="1400" b="0">
                <a:solidFill>
                  <a:srgbClr val="64748B"/>
                </a:solidFill>
                <a:latin typeface="Aptos Display"/>
              </a:rPr>
              <a:t>During recording, play or cut in the final demo video after this slide.</a:t>
            </a:r>
          </a:p>
        </p:txBody>
      </p:sp>
      <p:sp>
        <p:nvSpPr>
          <p:cNvPr id="12" name="TextBox 11"/>
          <p:cNvSpPr txBox="1"/>
          <p:nvPr/>
        </p:nvSpPr>
        <p:spPr>
          <a:xfrm>
            <a:off x="566928" y="6473952"/>
            <a:ext cx="2743200" cy="201168"/>
          </a:xfrm>
          <a:prstGeom prst="rect">
            <a:avLst/>
          </a:prstGeom>
          <a:noFill/>
        </p:spPr>
        <p:txBody>
          <a:bodyPr wrap="none" lIns="18288" rIns="18288" tIns="18288" bIns="18288" anchor="t">
            <a:spAutoFit/>
          </a:bodyPr>
          <a:lstStyle/>
          <a:p>
            <a:pPr algn="l"/>
            <a:r>
              <a:rPr sz="900" b="0">
                <a:solidFill>
                  <a:srgbClr val="64748B"/>
                </a:solidFill>
                <a:latin typeface="Aptos Display"/>
              </a:rPr>
              <a:t>Embodied AI Final Project</a:t>
            </a:r>
          </a:p>
        </p:txBody>
      </p:sp>
      <p:sp>
        <p:nvSpPr>
          <p:cNvPr id="13" name="TextBox 12"/>
          <p:cNvSpPr txBox="1"/>
          <p:nvPr/>
        </p:nvSpPr>
        <p:spPr>
          <a:xfrm>
            <a:off x="11430000" y="6473952"/>
            <a:ext cx="384048" cy="201168"/>
          </a:xfrm>
          <a:prstGeom prst="rect">
            <a:avLst/>
          </a:prstGeom>
          <a:noFill/>
        </p:spPr>
        <p:txBody>
          <a:bodyPr wrap="none" lIns="18288" rIns="18288" tIns="18288" bIns="18288" anchor="t">
            <a:spAutoFit/>
          </a:bodyPr>
          <a:lstStyle/>
          <a:p>
            <a:pPr algn="r"/>
            <a:r>
              <a:rPr sz="900" b="0">
                <a:solidFill>
                  <a:srgbClr val="64748B"/>
                </a:solidFill>
                <a:latin typeface="Aptos Display"/>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47472"/>
            <a:ext cx="7772400" cy="530352"/>
          </a:xfrm>
          <a:prstGeom prst="rect">
            <a:avLst/>
          </a:prstGeom>
          <a:noFill/>
        </p:spPr>
        <p:txBody>
          <a:bodyPr wrap="none" lIns="18288" rIns="18288" tIns="18288" bIns="18288" anchor="t">
            <a:spAutoFit/>
          </a:bodyPr>
          <a:lstStyle/>
          <a:p>
            <a:pPr algn="l"/>
            <a:r>
              <a:rPr sz="3000" b="1">
                <a:solidFill>
                  <a:srgbClr val="0F172A"/>
                </a:solidFill>
                <a:latin typeface="Aptos Display"/>
              </a:rPr>
              <a:t>Results snapshot</a:t>
            </a:r>
          </a:p>
        </p:txBody>
      </p:sp>
      <p:sp>
        <p:nvSpPr>
          <p:cNvPr id="3" name="TextBox 2"/>
          <p:cNvSpPr txBox="1"/>
          <p:nvPr/>
        </p:nvSpPr>
        <p:spPr>
          <a:xfrm>
            <a:off x="585216" y="877824"/>
            <a:ext cx="7955279" cy="310896"/>
          </a:xfrm>
          <a:prstGeom prst="rect">
            <a:avLst/>
          </a:prstGeom>
          <a:noFill/>
        </p:spPr>
        <p:txBody>
          <a:bodyPr wrap="none" lIns="18288" rIns="18288" tIns="18288" bIns="18288" anchor="t">
            <a:spAutoFit/>
          </a:bodyPr>
          <a:lstStyle/>
          <a:p>
            <a:pPr algn="l"/>
            <a:r>
              <a:rPr sz="1300" b="0">
                <a:solidFill>
                  <a:srgbClr val="64748B"/>
                </a:solidFill>
                <a:latin typeface="Aptos Display"/>
              </a:rPr>
              <a:t>Dataset scale, policy boundaries, and live outcomes are reported together.</a:t>
            </a:r>
          </a:p>
        </p:txBody>
      </p:sp>
      <p:sp>
        <p:nvSpPr>
          <p:cNvPr id="4" name="Rounded Rectangle 3"/>
          <p:cNvSpPr/>
          <p:nvPr/>
        </p:nvSpPr>
        <p:spPr>
          <a:xfrm>
            <a:off x="9619488" y="384048"/>
            <a:ext cx="2011680" cy="310896"/>
          </a:xfrm>
          <a:prstGeom prst="roundRect">
            <a:avLst/>
          </a:prstGeom>
          <a:solidFill>
            <a:srgbClr val="E0F2FE"/>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73152" rIns="73152" tIns="27432" bIns="27432"/>
          <a:lstStyle/>
          <a:p>
            <a:pPr algn="ctr"/>
            <a:r>
              <a:rPr sz="1000" b="1">
                <a:solidFill>
                  <a:srgbClr val="075985"/>
                </a:solidFill>
                <a:latin typeface="Aptos"/>
              </a:rPr>
              <a:t>MinKyu</a:t>
            </a:r>
          </a:p>
        </p:txBody>
      </p:sp>
      <p:graphicFrame>
        <p:nvGraphicFramePr>
          <p:cNvPr id="5" name="Table 4"/>
          <p:cNvGraphicFramePr>
            <a:graphicFrameLocks noGrp="1"/>
          </p:cNvGraphicFramePr>
          <p:nvPr/>
        </p:nvGraphicFramePr>
        <p:xfrm>
          <a:off x="685800" y="1143000"/>
          <a:ext cx="5669280" cy="4160520"/>
        </p:xfrm>
        <a:graphic>
          <a:graphicData uri="http://schemas.openxmlformats.org/drawingml/2006/table">
            <a:tbl>
              <a:tblPr firstRow="1" bandRow="1">
                <a:tableStyleId>{5C22544A-7EE6-4342-B048-85BDC9FD1C3A}</a:tableStyleId>
              </a:tblPr>
              <a:tblGrid>
                <a:gridCol w="1889760"/>
                <a:gridCol w="1889760"/>
                <a:gridCol w="1889760"/>
              </a:tblGrid>
              <a:tr h="594360">
                <a:tc>
                  <a:txBody>
                    <a:bodyPr/>
                    <a:lstStyle/>
                    <a:p>
                      <a:pPr>
                        <a:defRPr sz="1100" b="1">
                          <a:solidFill>
                            <a:srgbClr val="0F172A"/>
                          </a:solidFill>
                          <a:latin typeface="Aptos"/>
                        </a:defRPr>
                      </a:pPr>
                      <a:r>
                        <a:t>Evidence</a:t>
                      </a:r>
                    </a:p>
                  </a:txBody>
                  <a:tcPr>
                    <a:solidFill>
                      <a:srgbClr val="EDE9FE"/>
                    </a:solidFill>
                  </a:tcPr>
                </a:tc>
                <a:tc>
                  <a:txBody>
                    <a:bodyPr/>
                    <a:lstStyle/>
                    <a:p>
                      <a:pPr>
                        <a:defRPr sz="1100" b="1">
                          <a:solidFill>
                            <a:srgbClr val="0F172A"/>
                          </a:solidFill>
                          <a:latin typeface="Aptos"/>
                        </a:defRPr>
                      </a:pPr>
                      <a:r>
                        <a:t>Value</a:t>
                      </a:r>
                    </a:p>
                  </a:txBody>
                  <a:tcPr>
                    <a:solidFill>
                      <a:srgbClr val="EDE9FE"/>
                    </a:solidFill>
                  </a:tcPr>
                </a:tc>
                <a:tc>
                  <a:txBody>
                    <a:bodyPr/>
                    <a:lstStyle/>
                    <a:p>
                      <a:pPr>
                        <a:defRPr sz="1100" b="1">
                          <a:solidFill>
                            <a:srgbClr val="0F172A"/>
                          </a:solidFill>
                          <a:latin typeface="Aptos"/>
                        </a:defRPr>
                      </a:pPr>
                      <a:r>
                        <a:t>Role</a:t>
                      </a:r>
                    </a:p>
                  </a:txBody>
                  <a:tcPr>
                    <a:solidFill>
                      <a:srgbClr val="EDE9FE"/>
                    </a:solidFill>
                  </a:tcPr>
                </a:tc>
              </a:tr>
              <a:tr h="594360">
                <a:tc>
                  <a:txBody>
                    <a:bodyPr/>
                    <a:lstStyle/>
                    <a:p>
                      <a:pPr>
                        <a:defRPr sz="1000" b="0">
                          <a:solidFill>
                            <a:srgbClr val="0F172A"/>
                          </a:solidFill>
                          <a:latin typeface="Aptos"/>
                        </a:defRPr>
                      </a:pPr>
                      <a:r>
                        <a:t>Real clips / frames</a:t>
                      </a:r>
                    </a:p>
                  </a:txBody>
                  <a:tcPr>
                    <a:solidFill>
                      <a:srgbClr val="FFFFFF"/>
                    </a:solidFill>
                  </a:tcPr>
                </a:tc>
                <a:tc>
                  <a:txBody>
                    <a:bodyPr/>
                    <a:lstStyle/>
                    <a:p>
                      <a:pPr>
                        <a:defRPr sz="1000" b="0">
                          <a:solidFill>
                            <a:srgbClr val="0F172A"/>
                          </a:solidFill>
                          <a:latin typeface="Aptos"/>
                        </a:defRPr>
                      </a:pPr>
                      <a:r>
                        <a:t>20 / 720</a:t>
                      </a:r>
                    </a:p>
                  </a:txBody>
                  <a:tcPr>
                    <a:solidFill>
                      <a:srgbClr val="FFFFFF"/>
                    </a:solidFill>
                  </a:tcPr>
                </a:tc>
                <a:tc>
                  <a:txBody>
                    <a:bodyPr/>
                    <a:lstStyle/>
                    <a:p>
                      <a:pPr>
                        <a:defRPr sz="1000" b="0">
                          <a:solidFill>
                            <a:srgbClr val="0F172A"/>
                          </a:solidFill>
                          <a:latin typeface="Aptos"/>
                        </a:defRPr>
                      </a:pPr>
                      <a:r>
                        <a:t>seed capture</a:t>
                      </a:r>
                    </a:p>
                  </a:txBody>
                  <a:tcPr>
                    <a:solidFill>
                      <a:srgbClr val="FFFFFF"/>
                    </a:solidFill>
                  </a:tcPr>
                </a:tc>
              </a:tr>
              <a:tr h="594360">
                <a:tc>
                  <a:txBody>
                    <a:bodyPr/>
                    <a:lstStyle/>
                    <a:p>
                      <a:pPr>
                        <a:defRPr sz="1000" b="0">
                          <a:solidFill>
                            <a:srgbClr val="0F172A"/>
                          </a:solidFill>
                          <a:latin typeface="Aptos"/>
                        </a:defRPr>
                      </a:pPr>
                      <a:r>
                        <a:t>Feature dimension</a:t>
                      </a:r>
                    </a:p>
                  </a:txBody>
                  <a:tcPr>
                    <a:solidFill>
                      <a:srgbClr val="FFFFFF"/>
                    </a:solidFill>
                  </a:tcPr>
                </a:tc>
                <a:tc>
                  <a:txBody>
                    <a:bodyPr/>
                    <a:lstStyle/>
                    <a:p>
                      <a:pPr>
                        <a:defRPr sz="1000" b="0">
                          <a:solidFill>
                            <a:srgbClr val="0F172A"/>
                          </a:solidFill>
                          <a:latin typeface="Aptos"/>
                        </a:defRPr>
                      </a:pPr>
                      <a:r>
                        <a:t>142-D</a:t>
                      </a:r>
                    </a:p>
                  </a:txBody>
                  <a:tcPr>
                    <a:solidFill>
                      <a:srgbClr val="FFFFFF"/>
                    </a:solidFill>
                  </a:tcPr>
                </a:tc>
                <a:tc>
                  <a:txBody>
                    <a:bodyPr/>
                    <a:lstStyle/>
                    <a:p>
                      <a:pPr>
                        <a:defRPr sz="1000" b="0">
                          <a:solidFill>
                            <a:srgbClr val="0F172A"/>
                          </a:solidFill>
                          <a:latin typeface="Aptos"/>
                        </a:defRPr>
                      </a:pPr>
                      <a:r>
                        <a:t>predictor input</a:t>
                      </a:r>
                    </a:p>
                  </a:txBody>
                  <a:tcPr>
                    <a:solidFill>
                      <a:srgbClr val="FFFFFF"/>
                    </a:solidFill>
                  </a:tcPr>
                </a:tc>
              </a:tr>
              <a:tr h="594360">
                <a:tc>
                  <a:txBody>
                    <a:bodyPr/>
                    <a:lstStyle/>
                    <a:p>
                      <a:pPr>
                        <a:defRPr sz="1000" b="0">
                          <a:solidFill>
                            <a:srgbClr val="0F172A"/>
                          </a:solidFill>
                          <a:latin typeface="Aptos"/>
                        </a:defRPr>
                      </a:pPr>
                      <a:r>
                        <a:t>Large dataset</a:t>
                      </a:r>
                    </a:p>
                  </a:txBody>
                  <a:tcPr>
                    <a:solidFill>
                      <a:srgbClr val="FFFFFF"/>
                    </a:solidFill>
                  </a:tcPr>
                </a:tc>
                <a:tc>
                  <a:txBody>
                    <a:bodyPr/>
                    <a:lstStyle/>
                    <a:p>
                      <a:pPr>
                        <a:defRPr sz="1000" b="0">
                          <a:solidFill>
                            <a:srgbClr val="0F172A"/>
                          </a:solidFill>
                          <a:latin typeface="Aptos"/>
                        </a:defRPr>
                      </a:pPr>
                      <a:r>
                        <a:t>10,000</a:t>
                      </a:r>
                    </a:p>
                  </a:txBody>
                  <a:tcPr>
                    <a:solidFill>
                      <a:srgbClr val="FFFFFF"/>
                    </a:solidFill>
                  </a:tcPr>
                </a:tc>
                <a:tc>
                  <a:txBody>
                    <a:bodyPr/>
                    <a:lstStyle/>
                    <a:p>
                      <a:pPr>
                        <a:defRPr sz="1000" b="0">
                          <a:solidFill>
                            <a:srgbClr val="0F172A"/>
                          </a:solidFill>
                          <a:latin typeface="Aptos"/>
                        </a:defRPr>
                      </a:pPr>
                      <a:r>
                        <a:t>real-guided training base</a:t>
                      </a:r>
                    </a:p>
                  </a:txBody>
                  <a:tcPr>
                    <a:solidFill>
                      <a:srgbClr val="FFFFFF"/>
                    </a:solidFill>
                  </a:tcPr>
                </a:tc>
              </a:tr>
              <a:tr h="594360">
                <a:tc>
                  <a:txBody>
                    <a:bodyPr/>
                    <a:lstStyle/>
                    <a:p>
                      <a:pPr>
                        <a:defRPr sz="1000" b="0">
                          <a:solidFill>
                            <a:srgbClr val="0F172A"/>
                          </a:solidFill>
                          <a:latin typeface="Aptos"/>
                        </a:defRPr>
                      </a:pPr>
                      <a:r>
                        <a:t>v4 policy</a:t>
                      </a:r>
                    </a:p>
                  </a:txBody>
                  <a:tcPr>
                    <a:solidFill>
                      <a:srgbClr val="FFFFFF"/>
                    </a:solidFill>
                  </a:tcPr>
                </a:tc>
                <a:tc>
                  <a:txBody>
                    <a:bodyPr/>
                    <a:lstStyle/>
                    <a:p>
                      <a:pPr>
                        <a:defRPr sz="1000" b="0">
                          <a:solidFill>
                            <a:srgbClr val="0F172A"/>
                          </a:solidFill>
                          <a:latin typeface="Aptos"/>
                        </a:defRPr>
                      </a:pPr>
                      <a:r>
                        <a:t>live/demo</a:t>
                      </a:r>
                    </a:p>
                  </a:txBody>
                  <a:tcPr>
                    <a:solidFill>
                      <a:srgbClr val="FFFFFF"/>
                    </a:solidFill>
                  </a:tcPr>
                </a:tc>
                <a:tc>
                  <a:txBody>
                    <a:bodyPr/>
                    <a:lstStyle/>
                    <a:p>
                      <a:pPr>
                        <a:defRPr sz="1000" b="0">
                          <a:solidFill>
                            <a:srgbClr val="0F172A"/>
                          </a:solidFill>
                          <a:latin typeface="Aptos"/>
                        </a:defRPr>
                      </a:pPr>
                      <a:r>
                        <a:t>frozen fallback</a:t>
                      </a:r>
                    </a:p>
                  </a:txBody>
                  <a:tcPr>
                    <a:solidFill>
                      <a:srgbClr val="FFFFFF"/>
                    </a:solidFill>
                  </a:tcPr>
                </a:tc>
              </a:tr>
              <a:tr h="594360">
                <a:tc>
                  <a:txBody>
                    <a:bodyPr/>
                    <a:lstStyle/>
                    <a:p>
                      <a:pPr>
                        <a:defRPr sz="1000" b="0">
                          <a:solidFill>
                            <a:srgbClr val="0F172A"/>
                          </a:solidFill>
                          <a:latin typeface="Aptos"/>
                        </a:defRPr>
                      </a:pPr>
                      <a:r>
                        <a:t>v7e</a:t>
                      </a:r>
                    </a:p>
                  </a:txBody>
                  <a:tcPr>
                    <a:solidFill>
                      <a:srgbClr val="FFFFFF"/>
                    </a:solidFill>
                  </a:tcPr>
                </a:tc>
                <a:tc>
                  <a:txBody>
                    <a:bodyPr/>
                    <a:lstStyle/>
                    <a:p>
                      <a:pPr>
                        <a:defRPr sz="1000" b="0">
                          <a:solidFill>
                            <a:srgbClr val="0F172A"/>
                          </a:solidFill>
                          <a:latin typeface="Aptos"/>
                        </a:defRPr>
                      </a:pPr>
                      <a:r>
                        <a:t>17/20</a:t>
                      </a:r>
                    </a:p>
                  </a:txBody>
                  <a:tcPr>
                    <a:solidFill>
                      <a:srgbClr val="FFFFFF"/>
                    </a:solidFill>
                  </a:tcPr>
                </a:tc>
                <a:tc>
                  <a:txBody>
                    <a:bodyPr/>
                    <a:lstStyle/>
                    <a:p>
                      <a:pPr>
                        <a:defRPr sz="1000" b="0">
                          <a:solidFill>
                            <a:srgbClr val="0F172A"/>
                          </a:solidFill>
                          <a:latin typeface="Aptos"/>
                        </a:defRPr>
                      </a:pPr>
                      <a:r>
                        <a:t>diagnostics only</a:t>
                      </a:r>
                    </a:p>
                  </a:txBody>
                  <a:tcPr>
                    <a:solidFill>
                      <a:srgbClr val="FFFFFF"/>
                    </a:solidFill>
                  </a:tcPr>
                </a:tc>
              </a:tr>
              <a:tr h="594360">
                <a:tc>
                  <a:txBody>
                    <a:bodyPr/>
                    <a:lstStyle/>
                    <a:p>
                      <a:pPr>
                        <a:defRPr sz="1000" b="0">
                          <a:solidFill>
                            <a:srgbClr val="0F172A"/>
                          </a:solidFill>
                          <a:latin typeface="Aptos"/>
                        </a:defRPr>
                      </a:pPr>
                      <a:r>
                        <a:t>selected take</a:t>
                      </a:r>
                    </a:p>
                  </a:txBody>
                  <a:tcPr>
                    <a:solidFill>
                      <a:srgbClr val="FFFFFF"/>
                    </a:solidFill>
                  </a:tcPr>
                </a:tc>
                <a:tc>
                  <a:txBody>
                    <a:bodyPr/>
                    <a:lstStyle/>
                    <a:p>
                      <a:pPr>
                        <a:defRPr sz="1000" b="0">
                          <a:solidFill>
                            <a:srgbClr val="0F172A"/>
                          </a:solidFill>
                          <a:latin typeface="Aptos"/>
                        </a:defRPr>
                      </a:pPr>
                      <a:r>
                        <a:t>actuator-feasible win</a:t>
                      </a:r>
                    </a:p>
                  </a:txBody>
                  <a:tcPr>
                    <a:solidFill>
                      <a:srgbClr val="FFFFFF"/>
                    </a:solidFill>
                  </a:tcPr>
                </a:tc>
                <a:tc>
                  <a:txBody>
                    <a:bodyPr/>
                    <a:lstStyle/>
                    <a:p>
                      <a:pPr>
                        <a:defRPr sz="1000" b="0">
                          <a:solidFill>
                            <a:srgbClr val="0F172A"/>
                          </a:solidFill>
                          <a:latin typeface="Aptos"/>
                        </a:defRPr>
                      </a:pPr>
                      <a:r>
                        <a:t>final demo</a:t>
                      </a:r>
                    </a:p>
                  </a:txBody>
                  <a:tcPr>
                    <a:solidFill>
                      <a:srgbClr val="FFFFFF"/>
                    </a:solidFill>
                  </a:tcPr>
                </a:tc>
              </a:tr>
            </a:tbl>
          </a:graphicData>
        </a:graphic>
      </p:graphicFrame>
      <p:sp>
        <p:nvSpPr>
          <p:cNvPr id="6" name="Rounded Rectangle 5"/>
          <p:cNvSpPr/>
          <p:nvPr/>
        </p:nvSpPr>
        <p:spPr>
          <a:xfrm>
            <a:off x="6720840" y="1234440"/>
            <a:ext cx="4297680" cy="2377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049008" y="1344168"/>
            <a:ext cx="3641344" cy="2048256"/>
          </a:xfrm>
          <a:prstGeom prst="rect">
            <a:avLst/>
          </a:prstGeom>
        </p:spPr>
      </p:pic>
      <p:sp>
        <p:nvSpPr>
          <p:cNvPr id="8" name="TextBox 7"/>
          <p:cNvSpPr txBox="1"/>
          <p:nvPr/>
        </p:nvSpPr>
        <p:spPr>
          <a:xfrm>
            <a:off x="6867144" y="3383280"/>
            <a:ext cx="4005072" cy="164592"/>
          </a:xfrm>
          <a:prstGeom prst="rect">
            <a:avLst/>
          </a:prstGeom>
          <a:noFill/>
        </p:spPr>
        <p:txBody>
          <a:bodyPr wrap="none" lIns="18288" rIns="18288" tIns="18288" bIns="18288" anchor="t">
            <a:spAutoFit/>
          </a:bodyPr>
          <a:lstStyle/>
          <a:p>
            <a:pPr algn="ctr"/>
            <a:r>
              <a:rPr sz="800" b="0">
                <a:solidFill>
                  <a:srgbClr val="64748B"/>
                </a:solidFill>
                <a:latin typeface="Aptos Display"/>
              </a:rPr>
              <a:t>Three-take review poster</a:t>
            </a:r>
          </a:p>
        </p:txBody>
      </p:sp>
      <p:sp>
        <p:nvSpPr>
          <p:cNvPr id="9" name="TextBox 8"/>
          <p:cNvSpPr txBox="1"/>
          <p:nvPr/>
        </p:nvSpPr>
        <p:spPr>
          <a:xfrm>
            <a:off x="6784848" y="3977639"/>
            <a:ext cx="4160520" cy="1170432"/>
          </a:xfrm>
          <a:prstGeom prst="rect">
            <a:avLst/>
          </a:prstGeom>
          <a:noFill/>
        </p:spPr>
        <p:txBody>
          <a:bodyPr wrap="none" lIns="36576" rIns="36576" tIns="18288" bIns="18288">
            <a:spAutoFit/>
          </a:bodyPr>
          <a:lstStyle/>
          <a:p>
            <a:pPr>
              <a:spcAft>
                <a:spcPts val="700"/>
              </a:spcAft>
              <a:defRPr sz="1700">
                <a:solidFill>
                  <a:srgbClr val="0F172A"/>
                </a:solidFill>
                <a:latin typeface="Aptos"/>
              </a:defRPr>
            </a:pPr>
            <a:r>
              <a:t>Paper take: no confirmed paper response-window decision.</a:t>
            </a:r>
          </a:p>
          <a:p>
            <a:pPr>
              <a:spcAft>
                <a:spcPts val="700"/>
              </a:spcAft>
              <a:defRPr sz="1700">
                <a:solidFill>
                  <a:srgbClr val="0F172A"/>
                </a:solidFill>
                <a:latin typeface="Aptos"/>
              </a:defRPr>
            </a:pPr>
            <a:r>
              <a:t>Scissors take: confirmed scissors, but too late for the actuator deadline.</a:t>
            </a:r>
          </a:p>
          <a:p>
            <a:pPr>
              <a:spcAft>
                <a:spcPts val="700"/>
              </a:spcAft>
              <a:defRPr sz="1700">
                <a:solidFill>
                  <a:srgbClr val="0F172A"/>
                </a:solidFill>
                <a:latin typeface="Aptos"/>
              </a:defRPr>
            </a:pPr>
            <a:r>
              <a:t>Failures are kept as diagnostics, not hidden.</a:t>
            </a:r>
          </a:p>
        </p:txBody>
      </p:sp>
      <p:sp>
        <p:nvSpPr>
          <p:cNvPr id="10" name="TextBox 9"/>
          <p:cNvSpPr txBox="1"/>
          <p:nvPr/>
        </p:nvSpPr>
        <p:spPr>
          <a:xfrm>
            <a:off x="566928" y="6473952"/>
            <a:ext cx="2743200" cy="201168"/>
          </a:xfrm>
          <a:prstGeom prst="rect">
            <a:avLst/>
          </a:prstGeom>
          <a:noFill/>
        </p:spPr>
        <p:txBody>
          <a:bodyPr wrap="none" lIns="18288" rIns="18288" tIns="18288" bIns="18288" anchor="t">
            <a:spAutoFit/>
          </a:bodyPr>
          <a:lstStyle/>
          <a:p>
            <a:pPr algn="l"/>
            <a:r>
              <a:rPr sz="900" b="0">
                <a:solidFill>
                  <a:srgbClr val="64748B"/>
                </a:solidFill>
                <a:latin typeface="Aptos Display"/>
              </a:rPr>
              <a:t>Embodied AI Final Project</a:t>
            </a:r>
          </a:p>
        </p:txBody>
      </p:sp>
      <p:sp>
        <p:nvSpPr>
          <p:cNvPr id="11" name="TextBox 10"/>
          <p:cNvSpPr txBox="1"/>
          <p:nvPr/>
        </p:nvSpPr>
        <p:spPr>
          <a:xfrm>
            <a:off x="11430000" y="6473952"/>
            <a:ext cx="384048" cy="201168"/>
          </a:xfrm>
          <a:prstGeom prst="rect">
            <a:avLst/>
          </a:prstGeom>
          <a:noFill/>
        </p:spPr>
        <p:txBody>
          <a:bodyPr wrap="none" lIns="18288" rIns="18288" tIns="18288" bIns="18288" anchor="t">
            <a:spAutoFit/>
          </a:bodyPr>
          <a:lstStyle/>
          <a:p>
            <a:pPr algn="r"/>
            <a:r>
              <a:rPr sz="900" b="0">
                <a:solidFill>
                  <a:srgbClr val="64748B"/>
                </a:solidFill>
                <a:latin typeface="Aptos Display"/>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47472"/>
            <a:ext cx="7772400" cy="530352"/>
          </a:xfrm>
          <a:prstGeom prst="rect">
            <a:avLst/>
          </a:prstGeom>
          <a:noFill/>
        </p:spPr>
        <p:txBody>
          <a:bodyPr wrap="none" lIns="18288" rIns="18288" tIns="18288" bIns="18288" anchor="t">
            <a:spAutoFit/>
          </a:bodyPr>
          <a:lstStyle/>
          <a:p>
            <a:pPr algn="l"/>
            <a:r>
              <a:rPr sz="3000" b="1">
                <a:solidFill>
                  <a:srgbClr val="0F172A"/>
                </a:solidFill>
                <a:latin typeface="Aptos Display"/>
              </a:rPr>
              <a:t>Limitations</a:t>
            </a:r>
          </a:p>
        </p:txBody>
      </p:sp>
      <p:sp>
        <p:nvSpPr>
          <p:cNvPr id="3" name="TextBox 2"/>
          <p:cNvSpPr txBox="1"/>
          <p:nvPr/>
        </p:nvSpPr>
        <p:spPr>
          <a:xfrm>
            <a:off x="585216" y="877824"/>
            <a:ext cx="7955279" cy="310896"/>
          </a:xfrm>
          <a:prstGeom prst="rect">
            <a:avLst/>
          </a:prstGeom>
          <a:noFill/>
        </p:spPr>
        <p:txBody>
          <a:bodyPr wrap="none" lIns="18288" rIns="18288" tIns="18288" bIns="18288" anchor="t">
            <a:spAutoFit/>
          </a:bodyPr>
          <a:lstStyle/>
          <a:p>
            <a:pPr algn="l"/>
            <a:r>
              <a:rPr sz="1300" b="0">
                <a:solidFill>
                  <a:srgbClr val="64748B"/>
                </a:solidFill>
                <a:latin typeface="Aptos Display"/>
              </a:rPr>
              <a:t>The project is honest about what was validated and what remains open.</a:t>
            </a:r>
          </a:p>
        </p:txBody>
      </p:sp>
      <p:sp>
        <p:nvSpPr>
          <p:cNvPr id="4" name="Rounded Rectangle 3"/>
          <p:cNvSpPr/>
          <p:nvPr/>
        </p:nvSpPr>
        <p:spPr>
          <a:xfrm>
            <a:off x="9619488" y="384048"/>
            <a:ext cx="2011680" cy="310896"/>
          </a:xfrm>
          <a:prstGeom prst="roundRect">
            <a:avLst/>
          </a:prstGeom>
          <a:solidFill>
            <a:srgbClr val="E0F2FE"/>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73152" rIns="73152" tIns="27432" bIns="27432"/>
          <a:lstStyle/>
          <a:p>
            <a:pPr algn="ctr"/>
            <a:r>
              <a:rPr sz="1000" b="1">
                <a:solidFill>
                  <a:srgbClr val="075985"/>
                </a:solidFill>
                <a:latin typeface="Aptos"/>
              </a:rPr>
              <a:t>MinKyu</a:t>
            </a:r>
          </a:p>
        </p:txBody>
      </p:sp>
      <p:sp>
        <p:nvSpPr>
          <p:cNvPr id="5" name="Rounded Rectangle 4"/>
          <p:cNvSpPr/>
          <p:nvPr/>
        </p:nvSpPr>
        <p:spPr>
          <a:xfrm>
            <a:off x="777240" y="1234440"/>
            <a:ext cx="3383280" cy="342900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572768"/>
            <a:ext cx="2286000" cy="320040"/>
          </a:xfrm>
          <a:prstGeom prst="rect">
            <a:avLst/>
          </a:prstGeom>
          <a:noFill/>
        </p:spPr>
        <p:txBody>
          <a:bodyPr wrap="none" lIns="18288" rIns="18288" tIns="18288" bIns="18288" anchor="t">
            <a:spAutoFit/>
          </a:bodyPr>
          <a:lstStyle/>
          <a:p>
            <a:pPr algn="l"/>
            <a:r>
              <a:rPr sz="2400" b="1">
                <a:solidFill>
                  <a:srgbClr val="B91C1C"/>
                </a:solidFill>
                <a:latin typeface="Aptos Display"/>
              </a:rPr>
              <a:t>Skeleton-first</a:t>
            </a:r>
          </a:p>
        </p:txBody>
      </p:sp>
      <p:sp>
        <p:nvSpPr>
          <p:cNvPr id="7" name="TextBox 6"/>
          <p:cNvSpPr txBox="1"/>
          <p:nvPr/>
        </p:nvSpPr>
        <p:spPr>
          <a:xfrm>
            <a:off x="1060704" y="2148840"/>
            <a:ext cx="2697480" cy="1417320"/>
          </a:xfrm>
          <a:prstGeom prst="rect">
            <a:avLst/>
          </a:prstGeom>
          <a:noFill/>
        </p:spPr>
        <p:txBody>
          <a:bodyPr wrap="none" lIns="36576" rIns="36576" tIns="18288" bIns="18288">
            <a:spAutoFit/>
          </a:bodyPr>
          <a:lstStyle/>
          <a:p>
            <a:pPr>
              <a:spcAft>
                <a:spcPts val="700"/>
              </a:spcAft>
              <a:defRPr sz="1800">
                <a:solidFill>
                  <a:srgbClr val="0F172A"/>
                </a:solidFill>
                <a:latin typeface="Aptos"/>
              </a:defRPr>
            </a:pPr>
            <a:r>
              <a:t>The final predictor does not learn from raw Isaac camera images.</a:t>
            </a:r>
          </a:p>
          <a:p>
            <a:pPr>
              <a:spcAft>
                <a:spcPts val="700"/>
              </a:spcAft>
              <a:defRPr sz="1800">
                <a:solidFill>
                  <a:srgbClr val="0F172A"/>
                </a:solidFill>
                <a:latin typeface="Aptos"/>
              </a:defRPr>
            </a:pPr>
            <a:r>
              <a:t>Render-ready sidecars prepare future image-conditioned work.</a:t>
            </a:r>
          </a:p>
        </p:txBody>
      </p:sp>
      <p:sp>
        <p:nvSpPr>
          <p:cNvPr id="8" name="Rounded Rectangle 7"/>
          <p:cNvSpPr/>
          <p:nvPr/>
        </p:nvSpPr>
        <p:spPr>
          <a:xfrm>
            <a:off x="4434840" y="1234440"/>
            <a:ext cx="3383280" cy="342900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09160" y="1572768"/>
            <a:ext cx="2286000" cy="320040"/>
          </a:xfrm>
          <a:prstGeom prst="rect">
            <a:avLst/>
          </a:prstGeom>
          <a:noFill/>
        </p:spPr>
        <p:txBody>
          <a:bodyPr wrap="none" lIns="18288" rIns="18288" tIns="18288" bIns="18288" anchor="t">
            <a:spAutoFit/>
          </a:bodyPr>
          <a:lstStyle/>
          <a:p>
            <a:pPr algn="l"/>
            <a:r>
              <a:rPr sz="2400" b="1">
                <a:solidFill>
                  <a:srgbClr val="2563EB"/>
                </a:solidFill>
                <a:latin typeface="Aptos Display"/>
              </a:rPr>
              <a:t>Local timing</a:t>
            </a:r>
          </a:p>
        </p:txBody>
      </p:sp>
      <p:sp>
        <p:nvSpPr>
          <p:cNvPr id="10" name="TextBox 9"/>
          <p:cNvSpPr txBox="1"/>
          <p:nvPr/>
        </p:nvSpPr>
        <p:spPr>
          <a:xfrm>
            <a:off x="4718304" y="2148840"/>
            <a:ext cx="2697480" cy="1417320"/>
          </a:xfrm>
          <a:prstGeom prst="rect">
            <a:avLst/>
          </a:prstGeom>
          <a:noFill/>
        </p:spPr>
        <p:txBody>
          <a:bodyPr wrap="none" lIns="36576" rIns="36576" tIns="18288" bIns="18288">
            <a:spAutoFit/>
          </a:bodyPr>
          <a:lstStyle/>
          <a:p>
            <a:pPr>
              <a:spcAft>
                <a:spcPts val="700"/>
              </a:spcAft>
              <a:defRPr sz="1800">
                <a:solidFill>
                  <a:srgbClr val="0F172A"/>
                </a:solidFill>
                <a:latin typeface="Aptos"/>
              </a:defRPr>
            </a:pPr>
            <a:r>
              <a:t>Latency depends on camera, MediaPipe, OpenCV, PyTorch/CUDA, and PC specs.</a:t>
            </a:r>
          </a:p>
          <a:p>
            <a:pPr>
              <a:spcAft>
                <a:spcPts val="700"/>
              </a:spcAft>
              <a:defRPr sz="1800">
                <a:solidFill>
                  <a:srgbClr val="0F172A"/>
                </a:solidFill>
                <a:latin typeface="Aptos"/>
              </a:defRPr>
            </a:pPr>
            <a:r>
              <a:t>It is not a universal model-speed claim.</a:t>
            </a:r>
          </a:p>
        </p:txBody>
      </p:sp>
      <p:sp>
        <p:nvSpPr>
          <p:cNvPr id="11" name="Rounded Rectangle 10"/>
          <p:cNvSpPr/>
          <p:nvPr/>
        </p:nvSpPr>
        <p:spPr>
          <a:xfrm>
            <a:off x="8092440" y="1234440"/>
            <a:ext cx="3383280" cy="3429000"/>
          </a:xfrm>
          <a:prstGeom prst="roundRect">
            <a:avLst/>
          </a:prstGeom>
          <a:solidFill>
            <a:srgbClr val="FFFBEB"/>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1572768"/>
            <a:ext cx="2286000" cy="320040"/>
          </a:xfrm>
          <a:prstGeom prst="rect">
            <a:avLst/>
          </a:prstGeom>
          <a:noFill/>
        </p:spPr>
        <p:txBody>
          <a:bodyPr wrap="none" lIns="18288" rIns="18288" tIns="18288" bIns="18288" anchor="t">
            <a:spAutoFit/>
          </a:bodyPr>
          <a:lstStyle/>
          <a:p>
            <a:pPr algn="l"/>
            <a:r>
              <a:rPr sz="2400" b="1">
                <a:solidFill>
                  <a:srgbClr val="B45309"/>
                </a:solidFill>
                <a:latin typeface="Aptos Display"/>
              </a:rPr>
              <a:t>Live breadth</a:t>
            </a:r>
          </a:p>
        </p:txBody>
      </p:sp>
      <p:sp>
        <p:nvSpPr>
          <p:cNvPr id="13" name="TextBox 12"/>
          <p:cNvSpPr txBox="1"/>
          <p:nvPr/>
        </p:nvSpPr>
        <p:spPr>
          <a:xfrm>
            <a:off x="8375904" y="2148840"/>
            <a:ext cx="2697480" cy="1417320"/>
          </a:xfrm>
          <a:prstGeom prst="rect">
            <a:avLst/>
          </a:prstGeom>
          <a:noFill/>
        </p:spPr>
        <p:txBody>
          <a:bodyPr wrap="none" lIns="36576" rIns="36576" tIns="18288" bIns="18288">
            <a:spAutoFit/>
          </a:bodyPr>
          <a:lstStyle/>
          <a:p>
            <a:pPr>
              <a:spcAft>
                <a:spcPts val="700"/>
              </a:spcAft>
              <a:defRPr sz="1800">
                <a:solidFill>
                  <a:srgbClr val="0F172A"/>
                </a:solidFill>
                <a:latin typeface="Aptos"/>
              </a:defRPr>
            </a:pPr>
            <a:r>
              <a:t>Only one final selected take passed the full gate.</a:t>
            </a:r>
          </a:p>
          <a:p>
            <a:pPr>
              <a:spcAft>
                <a:spcPts val="700"/>
              </a:spcAft>
              <a:defRPr sz="1800">
                <a:solidFill>
                  <a:srgbClr val="0F172A"/>
                </a:solidFill>
                <a:latin typeface="Aptos"/>
              </a:defRPr>
            </a:pPr>
            <a:r>
              <a:t>More subjects and more controlled takes are needed.</a:t>
            </a:r>
          </a:p>
        </p:txBody>
      </p:sp>
      <p:sp>
        <p:nvSpPr>
          <p:cNvPr id="14" name="TextBox 13"/>
          <p:cNvSpPr txBox="1"/>
          <p:nvPr/>
        </p:nvSpPr>
        <p:spPr>
          <a:xfrm>
            <a:off x="1097280" y="5257800"/>
            <a:ext cx="9966960" cy="402336"/>
          </a:xfrm>
          <a:prstGeom prst="rect">
            <a:avLst/>
          </a:prstGeom>
          <a:noFill/>
        </p:spPr>
        <p:txBody>
          <a:bodyPr wrap="none" lIns="18288" rIns="18288" tIns="18288" bIns="18288" anchor="t">
            <a:spAutoFit/>
          </a:bodyPr>
          <a:lstStyle/>
          <a:p>
            <a:pPr algn="ctr"/>
            <a:r>
              <a:rPr sz="2300" b="1">
                <a:solidFill>
                  <a:srgbClr val="0F172A"/>
                </a:solidFill>
                <a:latin typeface="Aptos Display"/>
              </a:rPr>
              <a:t>Boundary: no v7f retraining and no v7e promotion in this submission.</a:t>
            </a:r>
          </a:p>
        </p:txBody>
      </p:sp>
      <p:sp>
        <p:nvSpPr>
          <p:cNvPr id="15" name="TextBox 14"/>
          <p:cNvSpPr txBox="1"/>
          <p:nvPr/>
        </p:nvSpPr>
        <p:spPr>
          <a:xfrm>
            <a:off x="566928" y="6473952"/>
            <a:ext cx="2743200" cy="201168"/>
          </a:xfrm>
          <a:prstGeom prst="rect">
            <a:avLst/>
          </a:prstGeom>
          <a:noFill/>
        </p:spPr>
        <p:txBody>
          <a:bodyPr wrap="none" lIns="18288" rIns="18288" tIns="18288" bIns="18288" anchor="t">
            <a:spAutoFit/>
          </a:bodyPr>
          <a:lstStyle/>
          <a:p>
            <a:pPr algn="l"/>
            <a:r>
              <a:rPr sz="900" b="0">
                <a:solidFill>
                  <a:srgbClr val="64748B"/>
                </a:solidFill>
                <a:latin typeface="Aptos Display"/>
              </a:rPr>
              <a:t>Embodied AI Final Project</a:t>
            </a:r>
          </a:p>
        </p:txBody>
      </p:sp>
      <p:sp>
        <p:nvSpPr>
          <p:cNvPr id="16" name="TextBox 15"/>
          <p:cNvSpPr txBox="1"/>
          <p:nvPr/>
        </p:nvSpPr>
        <p:spPr>
          <a:xfrm>
            <a:off x="11430000" y="6473952"/>
            <a:ext cx="384048" cy="201168"/>
          </a:xfrm>
          <a:prstGeom prst="rect">
            <a:avLst/>
          </a:prstGeom>
          <a:noFill/>
        </p:spPr>
        <p:txBody>
          <a:bodyPr wrap="none" lIns="18288" rIns="18288" tIns="18288" bIns="18288" anchor="t">
            <a:spAutoFit/>
          </a:bodyPr>
          <a:lstStyle/>
          <a:p>
            <a:pPr algn="r"/>
            <a:r>
              <a:rPr sz="900" b="0">
                <a:solidFill>
                  <a:srgbClr val="64748B"/>
                </a:solidFill>
                <a:latin typeface="Aptos Display"/>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13232" y="685800"/>
            <a:ext cx="5486400" cy="457200"/>
          </a:xfrm>
          <a:prstGeom prst="rect">
            <a:avLst/>
          </a:prstGeom>
          <a:noFill/>
        </p:spPr>
        <p:txBody>
          <a:bodyPr wrap="none" lIns="18288" rIns="18288" tIns="18288" bIns="18288" anchor="t">
            <a:spAutoFit/>
          </a:bodyPr>
          <a:lstStyle/>
          <a:p>
            <a:pPr algn="l"/>
            <a:r>
              <a:rPr sz="3200" b="1">
                <a:solidFill>
                  <a:srgbClr val="F8FAFC"/>
                </a:solidFill>
                <a:latin typeface="Aptos Display"/>
              </a:rPr>
              <a:t>What this project proves</a:t>
            </a:r>
          </a:p>
        </p:txBody>
      </p:sp>
      <p:sp>
        <p:nvSpPr>
          <p:cNvPr id="3" name="TextBox 2"/>
          <p:cNvSpPr txBox="1"/>
          <p:nvPr/>
        </p:nvSpPr>
        <p:spPr>
          <a:xfrm>
            <a:off x="749808" y="1325880"/>
            <a:ext cx="5669280" cy="1051560"/>
          </a:xfrm>
          <a:prstGeom prst="rect">
            <a:avLst/>
          </a:prstGeom>
          <a:noFill/>
        </p:spPr>
        <p:txBody>
          <a:bodyPr wrap="none" lIns="18288" rIns="18288" tIns="18288" bIns="18288" anchor="t">
            <a:spAutoFit/>
          </a:bodyPr>
          <a:lstStyle/>
          <a:p>
            <a:pPr algn="l"/>
            <a:r>
              <a:rPr sz="2100" b="0">
                <a:solidFill>
                  <a:srgbClr val="E2E8F0"/>
                </a:solidFill>
                <a:latin typeface="Aptos Display"/>
              </a:rPr>
              <a:t>A small verified real skeleton seed set can be expanded, aligned to a robot-hand embodiment, and transferred back to live prompt-window input for an actuator-feasible counterattack.</a:t>
            </a:r>
          </a:p>
        </p:txBody>
      </p:sp>
      <p:sp>
        <p:nvSpPr>
          <p:cNvPr id="4" name="Rounded Rectangle 3"/>
          <p:cNvSpPr/>
          <p:nvPr/>
        </p:nvSpPr>
        <p:spPr>
          <a:xfrm>
            <a:off x="6720840" y="804672"/>
            <a:ext cx="4526280" cy="4206240"/>
          </a:xfrm>
          <a:prstGeom prst="roundRect">
            <a:avLst/>
          </a:prstGeom>
          <a:solidFill>
            <a:srgbClr val="111827"/>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0" y="1124712"/>
            <a:ext cx="2560320" cy="320040"/>
          </a:xfrm>
          <a:prstGeom prst="rect">
            <a:avLst/>
          </a:prstGeom>
          <a:noFill/>
        </p:spPr>
        <p:txBody>
          <a:bodyPr wrap="none" lIns="18288" rIns="18288" tIns="18288" bIns="18288" anchor="t">
            <a:spAutoFit/>
          </a:bodyPr>
          <a:lstStyle/>
          <a:p>
            <a:pPr algn="l"/>
            <a:r>
              <a:rPr sz="2400" b="1">
                <a:solidFill>
                  <a:srgbClr val="F8FAFC"/>
                </a:solidFill>
                <a:latin typeface="Aptos Display"/>
              </a:rPr>
              <a:t>Next steps</a:t>
            </a:r>
          </a:p>
        </p:txBody>
      </p:sp>
      <p:sp>
        <p:nvSpPr>
          <p:cNvPr id="6" name="TextBox 5"/>
          <p:cNvSpPr txBox="1"/>
          <p:nvPr/>
        </p:nvSpPr>
        <p:spPr>
          <a:xfrm>
            <a:off x="7040880" y="1783080"/>
            <a:ext cx="3611880" cy="2148840"/>
          </a:xfrm>
          <a:prstGeom prst="rect">
            <a:avLst/>
          </a:prstGeom>
          <a:noFill/>
        </p:spPr>
        <p:txBody>
          <a:bodyPr wrap="none" lIns="36576" rIns="36576" tIns="18288" bIns="18288">
            <a:spAutoFit/>
          </a:bodyPr>
          <a:lstStyle/>
          <a:p>
            <a:pPr>
              <a:spcAft>
                <a:spcPts val="700"/>
              </a:spcAft>
              <a:defRPr sz="1900">
                <a:solidFill>
                  <a:srgbClr val="E2E8F0"/>
                </a:solidFill>
                <a:latin typeface="Aptos"/>
              </a:defRPr>
            </a:pPr>
            <a:r>
              <a:t>Hardware-normalized latency benchmark</a:t>
            </a:r>
          </a:p>
          <a:p>
            <a:pPr>
              <a:spcAft>
                <a:spcPts val="700"/>
              </a:spcAft>
              <a:defRPr sz="1900">
                <a:solidFill>
                  <a:srgbClr val="E2E8F0"/>
                </a:solidFill>
                <a:latin typeface="Aptos"/>
              </a:defRPr>
            </a:pPr>
            <a:r>
              <a:t>Image-conditioned Isaac/SCHUNK training</a:t>
            </a:r>
          </a:p>
          <a:p>
            <a:pPr>
              <a:spcAft>
                <a:spcPts val="700"/>
              </a:spcAft>
              <a:defRPr sz="1900">
                <a:solidFill>
                  <a:srgbClr val="E2E8F0"/>
                </a:solidFill>
                <a:latin typeface="Aptos"/>
              </a:defRPr>
            </a:pPr>
            <a:r>
              <a:t>Physical hand deployment with calibrated actuators</a:t>
            </a:r>
          </a:p>
          <a:p>
            <a:pPr>
              <a:spcAft>
                <a:spcPts val="700"/>
              </a:spcAft>
              <a:defRPr sz="1900">
                <a:solidFill>
                  <a:srgbClr val="E2E8F0"/>
                </a:solidFill>
                <a:latin typeface="Aptos"/>
              </a:defRPr>
            </a:pPr>
            <a:r>
              <a:t>Broader live-subject validation</a:t>
            </a:r>
          </a:p>
        </p:txBody>
      </p:sp>
      <p:sp>
        <p:nvSpPr>
          <p:cNvPr id="7" name="Rounded Rectangle 6"/>
          <p:cNvSpPr/>
          <p:nvPr/>
        </p:nvSpPr>
        <p:spPr>
          <a:xfrm>
            <a:off x="777240" y="3657600"/>
            <a:ext cx="3474720" cy="365760"/>
          </a:xfrm>
          <a:prstGeom prst="roundRect">
            <a:avLst/>
          </a:prstGeom>
          <a:solidFill>
            <a:srgbClr val="DBEAFE"/>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73152" rIns="73152" tIns="27432" bIns="27432"/>
          <a:lstStyle/>
          <a:p>
            <a:pPr algn="ctr"/>
            <a:r>
              <a:rPr sz="1000" b="1">
                <a:solidFill>
                  <a:srgbClr val="1D4ED8"/>
                </a:solidFill>
                <a:latin typeface="Aptos"/>
              </a:rPr>
              <a:t>Dataset links: fill after Google Drive upload</a:t>
            </a:r>
          </a:p>
        </p:txBody>
      </p:sp>
      <p:sp>
        <p:nvSpPr>
          <p:cNvPr id="8" name="Rounded Rectangle 7"/>
          <p:cNvSpPr/>
          <p:nvPr/>
        </p:nvSpPr>
        <p:spPr>
          <a:xfrm>
            <a:off x="777240" y="4160520"/>
            <a:ext cx="3977639" cy="365760"/>
          </a:xfrm>
          <a:prstGeom prst="roundRect">
            <a:avLst/>
          </a:prstGeom>
          <a:solidFill>
            <a:srgbClr val="DCFCE7"/>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73152" rIns="73152" tIns="27432" bIns="27432"/>
          <a:lstStyle/>
          <a:p>
            <a:pPr algn="ctr"/>
            <a:r>
              <a:rPr sz="1000" b="1">
                <a:solidFill>
                  <a:srgbClr val="166534"/>
                </a:solidFill>
                <a:latin typeface="Aptos"/>
              </a:rPr>
              <a:t>Demo/presentation links: fill after YouTube upload</a:t>
            </a:r>
          </a:p>
        </p:txBody>
      </p:sp>
      <p:sp>
        <p:nvSpPr>
          <p:cNvPr id="9" name="TextBox 8"/>
          <p:cNvSpPr txBox="1"/>
          <p:nvPr/>
        </p:nvSpPr>
        <p:spPr>
          <a:xfrm>
            <a:off x="749808" y="5212080"/>
            <a:ext cx="2743200" cy="502920"/>
          </a:xfrm>
          <a:prstGeom prst="rect">
            <a:avLst/>
          </a:prstGeom>
          <a:noFill/>
        </p:spPr>
        <p:txBody>
          <a:bodyPr wrap="none" lIns="18288" rIns="18288" tIns="18288" bIns="18288" anchor="t">
            <a:spAutoFit/>
          </a:bodyPr>
          <a:lstStyle/>
          <a:p>
            <a:pPr algn="l"/>
            <a:r>
              <a:rPr sz="3400" b="1">
                <a:solidFill>
                  <a:srgbClr val="F8FAFC"/>
                </a:solidFill>
                <a:latin typeface="Aptos Display"/>
              </a:rPr>
              <a:t>Thank you</a:t>
            </a:r>
          </a:p>
        </p:txBody>
      </p:sp>
      <p:sp>
        <p:nvSpPr>
          <p:cNvPr id="10" name="TextBox 9"/>
          <p:cNvSpPr txBox="1"/>
          <p:nvPr/>
        </p:nvSpPr>
        <p:spPr>
          <a:xfrm>
            <a:off x="566928" y="6473952"/>
            <a:ext cx="2743200" cy="201168"/>
          </a:xfrm>
          <a:prstGeom prst="rect">
            <a:avLst/>
          </a:prstGeom>
          <a:noFill/>
        </p:spPr>
        <p:txBody>
          <a:bodyPr wrap="none" lIns="18288" rIns="18288" tIns="18288" bIns="18288" anchor="t">
            <a:spAutoFit/>
          </a:bodyPr>
          <a:lstStyle/>
          <a:p>
            <a:pPr algn="l"/>
            <a:r>
              <a:rPr sz="900" b="0">
                <a:solidFill>
                  <a:srgbClr val="64748B"/>
                </a:solidFill>
                <a:latin typeface="Aptos Display"/>
              </a:rPr>
              <a:t>Embodied AI Final Project</a:t>
            </a:r>
          </a:p>
        </p:txBody>
      </p:sp>
      <p:sp>
        <p:nvSpPr>
          <p:cNvPr id="11" name="TextBox 10"/>
          <p:cNvSpPr txBox="1"/>
          <p:nvPr/>
        </p:nvSpPr>
        <p:spPr>
          <a:xfrm>
            <a:off x="11430000" y="6473952"/>
            <a:ext cx="384048" cy="201168"/>
          </a:xfrm>
          <a:prstGeom prst="rect">
            <a:avLst/>
          </a:prstGeom>
          <a:noFill/>
        </p:spPr>
        <p:txBody>
          <a:bodyPr wrap="none" lIns="18288" rIns="18288" tIns="18288" bIns="18288" anchor="t">
            <a:spAutoFit/>
          </a:bodyPr>
          <a:lstStyle/>
          <a:p>
            <a:pPr algn="r"/>
            <a:r>
              <a:rPr sz="900" b="0">
                <a:solidFill>
                  <a:srgbClr val="64748B"/>
                </a:solidFill>
                <a:latin typeface="Aptos Display"/>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Presentation - Real-Guided Skeleton Augmentation for RPS Counterattack</dc:title>
  <dc:subject/>
  <dc:creator>MinKyu Cho and SeungHwan Kim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